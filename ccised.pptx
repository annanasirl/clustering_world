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Helvetica World" charset="1" panose="020B0500040000020004"/>
      <p:regular r:id="rId22"/>
    </p:embeddedFont>
    <p:embeddedFont>
      <p:font typeface="Canva Sans Bold" charset="1" panose="020B0803030501040103"/>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https://datacatalog.worldbank.org/search/dataset/0037712/world-development-indicators" TargetMode="External" Type="http://schemas.openxmlformats.org/officeDocument/2006/relationships/hyperlink"/><Relationship Id="rId3" Target="https://m-clark.github.io/book-of-models/dataset_descriptions.html#sec-dd-world-happiness-report"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sciencedirect.com/science/article/pii/S2666188825004721"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546872" y="1323853"/>
            <a:ext cx="11194256" cy="3567431"/>
          </a:xfrm>
          <a:prstGeom prst="rect">
            <a:avLst/>
          </a:prstGeom>
        </p:spPr>
        <p:txBody>
          <a:bodyPr anchor="t" rtlCol="false" tIns="0" lIns="0" bIns="0" rIns="0">
            <a:spAutoFit/>
          </a:bodyPr>
          <a:lstStyle/>
          <a:p>
            <a:pPr algn="ctr">
              <a:lnSpc>
                <a:spcPts val="9200"/>
              </a:lnSpc>
            </a:pPr>
            <a:r>
              <a:rPr lang="en-US" sz="9200">
                <a:solidFill>
                  <a:srgbClr val="000000"/>
                </a:solidFill>
                <a:latin typeface="Helvetica World"/>
                <a:ea typeface="Helvetica World"/>
                <a:cs typeface="Helvetica World"/>
                <a:sym typeface="Helvetica World"/>
              </a:rPr>
              <a:t>Clust</a:t>
            </a:r>
            <a:r>
              <a:rPr lang="en-US" sz="9200">
                <a:solidFill>
                  <a:srgbClr val="000000"/>
                </a:solidFill>
                <a:latin typeface="Helvetica World"/>
                <a:ea typeface="Helvetica World"/>
                <a:cs typeface="Helvetica World"/>
                <a:sym typeface="Helvetica World"/>
              </a:rPr>
              <a:t>ering Countries</a:t>
            </a:r>
          </a:p>
          <a:p>
            <a:pPr algn="ctr">
              <a:lnSpc>
                <a:spcPts val="9200"/>
              </a:lnSpc>
            </a:pPr>
            <a:r>
              <a:rPr lang="en-US" sz="9200">
                <a:solidFill>
                  <a:srgbClr val="000000"/>
                </a:solidFill>
                <a:latin typeface="Helvetica World"/>
                <a:ea typeface="Helvetica World"/>
                <a:cs typeface="Helvetica World"/>
                <a:sym typeface="Helvetica World"/>
              </a:rPr>
              <a:t>on Integrated</a:t>
            </a:r>
          </a:p>
          <a:p>
            <a:pPr algn="ctr">
              <a:lnSpc>
                <a:spcPts val="9200"/>
              </a:lnSpc>
            </a:pPr>
            <a:r>
              <a:rPr lang="en-US" sz="9200">
                <a:solidFill>
                  <a:srgbClr val="000000"/>
                </a:solidFill>
                <a:latin typeface="Helvetica World"/>
                <a:ea typeface="Helvetica World"/>
                <a:cs typeface="Helvetica World"/>
                <a:sym typeface="Helvetica World"/>
              </a:rPr>
              <a:t>Socio-Economic Data</a:t>
            </a:r>
          </a:p>
        </p:txBody>
      </p:sp>
      <p:sp>
        <p:nvSpPr>
          <p:cNvPr name="TextBox 3" id="3"/>
          <p:cNvSpPr txBox="true"/>
          <p:nvPr/>
        </p:nvSpPr>
        <p:spPr>
          <a:xfrm rot="0">
            <a:off x="6236866" y="6713243"/>
            <a:ext cx="5814268" cy="906145"/>
          </a:xfrm>
          <a:prstGeom prst="rect">
            <a:avLst/>
          </a:prstGeom>
        </p:spPr>
        <p:txBody>
          <a:bodyPr anchor="t" rtlCol="false" tIns="0" lIns="0" bIns="0" rIns="0">
            <a:spAutoFit/>
          </a:bodyPr>
          <a:lstStyle/>
          <a:p>
            <a:pPr algn="ctr">
              <a:lnSpc>
                <a:spcPts val="7279"/>
              </a:lnSpc>
            </a:pPr>
            <a:r>
              <a:rPr lang="en-US" sz="5199">
                <a:solidFill>
                  <a:srgbClr val="000000"/>
                </a:solidFill>
                <a:latin typeface="Helvetica World"/>
                <a:ea typeface="Helvetica World"/>
                <a:cs typeface="Helvetica World"/>
                <a:sym typeface="Helvetica World"/>
              </a:rPr>
              <a:t>Project presentation</a:t>
            </a:r>
          </a:p>
        </p:txBody>
      </p:sp>
      <p:sp>
        <p:nvSpPr>
          <p:cNvPr name="TextBox 4" id="4"/>
          <p:cNvSpPr txBox="true"/>
          <p:nvPr/>
        </p:nvSpPr>
        <p:spPr>
          <a:xfrm rot="0">
            <a:off x="0" y="7543188"/>
            <a:ext cx="18288000" cy="1790065"/>
          </a:xfrm>
          <a:prstGeom prst="rect">
            <a:avLst/>
          </a:prstGeom>
        </p:spPr>
        <p:txBody>
          <a:bodyPr anchor="t" rtlCol="false" tIns="0" lIns="0" bIns="0" rIns="0">
            <a:spAutoFit/>
          </a:bodyPr>
          <a:lstStyle/>
          <a:p>
            <a:pPr algn="ctr">
              <a:lnSpc>
                <a:spcPts val="4759"/>
              </a:lnSpc>
            </a:pPr>
            <a:r>
              <a:rPr lang="en-US" sz="3399">
                <a:solidFill>
                  <a:srgbClr val="000000"/>
                </a:solidFill>
                <a:latin typeface="Helvetica World"/>
                <a:ea typeface="Helvetica World"/>
                <a:cs typeface="Helvetica World"/>
                <a:sym typeface="Helvetica World"/>
              </a:rPr>
              <a:t>Anna Fabbri</a:t>
            </a:r>
          </a:p>
          <a:p>
            <a:pPr algn="ctr">
              <a:lnSpc>
                <a:spcPts val="4759"/>
              </a:lnSpc>
            </a:pPr>
          </a:p>
          <a:p>
            <a:pPr algn="ctr">
              <a:lnSpc>
                <a:spcPts val="4759"/>
              </a:lnSpc>
            </a:pPr>
            <a:r>
              <a:rPr lang="en-US" sz="3399">
                <a:solidFill>
                  <a:srgbClr val="000000"/>
                </a:solidFill>
                <a:latin typeface="Helvetica World"/>
                <a:ea typeface="Helvetica World"/>
                <a:cs typeface="Helvetica World"/>
                <a:sym typeface="Helvetica World"/>
              </a:rPr>
              <a:t>Data Mining and Machine Learning</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33450"/>
            <a:ext cx="6776145"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Problem description:</a:t>
            </a:r>
          </a:p>
        </p:txBody>
      </p:sp>
      <p:sp>
        <p:nvSpPr>
          <p:cNvPr name="TextBox 3" id="3"/>
          <p:cNvSpPr txBox="true"/>
          <p:nvPr/>
        </p:nvSpPr>
        <p:spPr>
          <a:xfrm rot="0">
            <a:off x="1028700" y="1994354"/>
            <a:ext cx="15734266" cy="7263946"/>
          </a:xfrm>
          <a:prstGeom prst="rect">
            <a:avLst/>
          </a:prstGeom>
        </p:spPr>
        <p:txBody>
          <a:bodyPr anchor="t" rtlCol="false" tIns="0" lIns="0" bIns="0" rIns="0">
            <a:spAutoFit/>
          </a:bodyPr>
          <a:lstStyle/>
          <a:p>
            <a:pPr algn="l">
              <a:lnSpc>
                <a:spcPts val="5258"/>
              </a:lnSpc>
            </a:pPr>
            <a:r>
              <a:rPr lang="en-US" sz="3756">
                <a:solidFill>
                  <a:srgbClr val="000000"/>
                </a:solidFill>
                <a:latin typeface="Canva Sans"/>
                <a:ea typeface="Canva Sans"/>
                <a:cs typeface="Canva Sans"/>
                <a:sym typeface="Canva Sans"/>
              </a:rPr>
              <a:t>The aim of this project is to c</a:t>
            </a:r>
            <a:r>
              <a:rPr lang="en-US" sz="3756">
                <a:solidFill>
                  <a:srgbClr val="000000"/>
                </a:solidFill>
                <a:latin typeface="Canva Sans"/>
                <a:ea typeface="Canva Sans"/>
                <a:cs typeface="Canva Sans"/>
                <a:sym typeface="Canva Sans"/>
              </a:rPr>
              <a:t>ompare different unsupervised learning techniques on their capability of clustering world countries. This is done on the basis of real world socio economic data consisting in an integration of two datasets which required heavy data preprocessing.</a:t>
            </a:r>
          </a:p>
          <a:p>
            <a:pPr algn="l">
              <a:lnSpc>
                <a:spcPts val="5258"/>
              </a:lnSpc>
            </a:pPr>
            <a:r>
              <a:rPr lang="en-US" sz="3756">
                <a:solidFill>
                  <a:srgbClr val="000000"/>
                </a:solidFill>
                <a:latin typeface="Canva Sans"/>
                <a:ea typeface="Canva Sans"/>
                <a:cs typeface="Canva Sans"/>
                <a:sym typeface="Canva Sans"/>
              </a:rPr>
              <a:t>The question(s) it tries to answer are:</a:t>
            </a:r>
          </a:p>
          <a:p>
            <a:pPr algn="l" marL="810999" indent="-405500" lvl="1">
              <a:lnSpc>
                <a:spcPts val="5258"/>
              </a:lnSpc>
              <a:buAutoNum type="arabicPeriod" startAt="1"/>
            </a:pPr>
            <a:r>
              <a:rPr lang="en-US" sz="3756">
                <a:solidFill>
                  <a:srgbClr val="000000"/>
                </a:solidFill>
                <a:latin typeface="Canva Sans"/>
                <a:ea typeface="Canva Sans"/>
                <a:cs typeface="Canva Sans"/>
                <a:sym typeface="Canva Sans"/>
              </a:rPr>
              <a:t>Is there a way at all to categorize world countries in different clusters considering multiple aspects of their social, geographical and economic aspects, and to show evolution in time?</a:t>
            </a:r>
          </a:p>
          <a:p>
            <a:pPr algn="l" marL="810999" indent="-405500" lvl="1">
              <a:lnSpc>
                <a:spcPts val="5258"/>
              </a:lnSpc>
              <a:buAutoNum type="arabicPeriod" startAt="1"/>
            </a:pPr>
            <a:r>
              <a:rPr lang="en-US" sz="3756">
                <a:solidFill>
                  <a:srgbClr val="000000"/>
                </a:solidFill>
                <a:latin typeface="Canva Sans"/>
                <a:ea typeface="Canva Sans"/>
                <a:cs typeface="Canva Sans"/>
                <a:sym typeface="Canva Sans"/>
              </a:rPr>
              <a:t>Which algorithm is able to give more significant results?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33450"/>
            <a:ext cx="6556474"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Dataset description:</a:t>
            </a:r>
          </a:p>
        </p:txBody>
      </p:sp>
      <p:sp>
        <p:nvSpPr>
          <p:cNvPr name="TextBox 3" id="3"/>
          <p:cNvSpPr txBox="true"/>
          <p:nvPr/>
        </p:nvSpPr>
        <p:spPr>
          <a:xfrm rot="0">
            <a:off x="1028700" y="1984829"/>
            <a:ext cx="16230600" cy="6835536"/>
          </a:xfrm>
          <a:prstGeom prst="rect">
            <a:avLst/>
          </a:prstGeom>
        </p:spPr>
        <p:txBody>
          <a:bodyPr anchor="t" rtlCol="false" tIns="0" lIns="0" bIns="0" rIns="0">
            <a:spAutoFit/>
          </a:bodyPr>
          <a:lstStyle/>
          <a:p>
            <a:pPr algn="l">
              <a:lnSpc>
                <a:spcPts val="5438"/>
              </a:lnSpc>
            </a:pPr>
            <a:r>
              <a:rPr lang="en-US" sz="3884">
                <a:solidFill>
                  <a:srgbClr val="000000"/>
                </a:solidFill>
                <a:latin typeface="Canva Sans"/>
                <a:ea typeface="Canva Sans"/>
                <a:cs typeface="Canva Sans"/>
                <a:sym typeface="Canva Sans"/>
              </a:rPr>
              <a:t>The project integrates two datasets:</a:t>
            </a:r>
          </a:p>
          <a:p>
            <a:pPr algn="l" marL="838642" indent="-419321" lvl="1">
              <a:lnSpc>
                <a:spcPts val="5438"/>
              </a:lnSpc>
              <a:buAutoNum type="arabicPeriod" startAt="1"/>
            </a:pPr>
            <a:r>
              <a:rPr lang="en-US" sz="3884">
                <a:solidFill>
                  <a:srgbClr val="000000"/>
                </a:solidFill>
                <a:latin typeface="Canva Sans"/>
                <a:ea typeface="Canva Sans"/>
                <a:cs typeface="Canva Sans"/>
                <a:sym typeface="Canva Sans"/>
              </a:rPr>
              <a:t>World Development Indicators (WDI) database, published by the World Bank; a comprehensive collection of global development data, it includes over 1,500 indicators (link </a:t>
            </a:r>
            <a:r>
              <a:rPr lang="en-US" sz="3884" u="sng">
                <a:solidFill>
                  <a:srgbClr val="000000"/>
                </a:solidFill>
                <a:latin typeface="Canva Sans"/>
                <a:ea typeface="Canva Sans"/>
                <a:cs typeface="Canva Sans"/>
                <a:sym typeface="Canva Sans"/>
                <a:hlinkClick r:id="rId2" tooltip="https://datacatalog.worldbank.org/search/dataset/0037712/world-development-indicators"/>
              </a:rPr>
              <a:t>here</a:t>
            </a:r>
            <a:r>
              <a:rPr lang="en-US" sz="3884">
                <a:solidFill>
                  <a:srgbClr val="000000"/>
                </a:solidFill>
                <a:latin typeface="Canva Sans"/>
                <a:ea typeface="Canva Sans"/>
                <a:cs typeface="Canva Sans"/>
                <a:sym typeface="Canva Sans"/>
              </a:rPr>
              <a:t>) </a:t>
            </a:r>
          </a:p>
          <a:p>
            <a:pPr algn="l" marL="838642" indent="-419321" lvl="1">
              <a:lnSpc>
                <a:spcPts val="5438"/>
              </a:lnSpc>
              <a:buAutoNum type="arabicPeriod" startAt="1"/>
            </a:pPr>
            <a:r>
              <a:rPr lang="en-US" sz="3884">
                <a:solidFill>
                  <a:srgbClr val="000000"/>
                </a:solidFill>
                <a:latin typeface="Canva Sans"/>
                <a:ea typeface="Canva Sans"/>
                <a:cs typeface="Canva Sans"/>
                <a:sym typeface="Canva Sans"/>
              </a:rPr>
              <a:t>World Happiness Report, a survey of the state of global happiness that ranks countries by how ‘happy’ their citizens perceive themselves to be (link </a:t>
            </a:r>
            <a:r>
              <a:rPr lang="en-US" sz="3884" u="sng">
                <a:solidFill>
                  <a:srgbClr val="000000"/>
                </a:solidFill>
                <a:latin typeface="Canva Sans"/>
                <a:ea typeface="Canva Sans"/>
                <a:cs typeface="Canva Sans"/>
                <a:sym typeface="Canva Sans"/>
                <a:hlinkClick r:id="rId3" tooltip="https://m-clark.github.io/book-of-models/dataset_descriptions.html#sec-dd-world-happiness-report"/>
              </a:rPr>
              <a:t>here</a:t>
            </a:r>
            <a:r>
              <a:rPr lang="en-US" sz="3884">
                <a:solidFill>
                  <a:srgbClr val="000000"/>
                </a:solidFill>
                <a:latin typeface="Canva Sans"/>
                <a:ea typeface="Canva Sans"/>
                <a:cs typeface="Canva Sans"/>
                <a:sym typeface="Canva Sans"/>
              </a:rPr>
              <a:t>)</a:t>
            </a:r>
          </a:p>
          <a:p>
            <a:pPr algn="l">
              <a:lnSpc>
                <a:spcPts val="5438"/>
              </a:lnSpc>
            </a:pPr>
          </a:p>
          <a:p>
            <a:pPr algn="l">
              <a:lnSpc>
                <a:spcPts val="5438"/>
              </a:lnSpc>
            </a:pPr>
            <a:r>
              <a:rPr lang="en-US" sz="3884">
                <a:solidFill>
                  <a:srgbClr val="000000"/>
                </a:solidFill>
                <a:latin typeface="Canva Sans"/>
                <a:ea typeface="Canva Sans"/>
                <a:cs typeface="Canva Sans"/>
                <a:sym typeface="Canva Sans"/>
              </a:rPr>
              <a:t>The rationale was combining material development indicators of different origins with “holistic” wellbeing measures.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33450"/>
            <a:ext cx="3794224"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References:</a:t>
            </a:r>
          </a:p>
        </p:txBody>
      </p:sp>
      <p:sp>
        <p:nvSpPr>
          <p:cNvPr name="TextBox 3" id="3"/>
          <p:cNvSpPr txBox="true"/>
          <p:nvPr/>
        </p:nvSpPr>
        <p:spPr>
          <a:xfrm rot="0">
            <a:off x="1028700" y="2359412"/>
            <a:ext cx="16230600" cy="5463936"/>
          </a:xfrm>
          <a:prstGeom prst="rect">
            <a:avLst/>
          </a:prstGeom>
        </p:spPr>
        <p:txBody>
          <a:bodyPr anchor="t" rtlCol="false" tIns="0" lIns="0" bIns="0" rIns="0">
            <a:spAutoFit/>
          </a:bodyPr>
          <a:lstStyle/>
          <a:p>
            <a:pPr algn="l">
              <a:lnSpc>
                <a:spcPts val="5438"/>
              </a:lnSpc>
            </a:pPr>
            <a:r>
              <a:rPr lang="en-US" sz="3884">
                <a:solidFill>
                  <a:srgbClr val="000000"/>
                </a:solidFill>
                <a:latin typeface="Canva Sans"/>
                <a:ea typeface="Canva Sans"/>
                <a:cs typeface="Canva Sans"/>
                <a:sym typeface="Canva Sans"/>
              </a:rPr>
              <a:t>The project takes inspiration from Saraiva, C., &amp; Caiado, J. (2025). </a:t>
            </a:r>
            <a:r>
              <a:rPr lang="en-US" sz="3884" u="sng">
                <a:solidFill>
                  <a:srgbClr val="000000"/>
                </a:solidFill>
                <a:latin typeface="Canva Sans"/>
                <a:ea typeface="Canva Sans"/>
                <a:cs typeface="Canva Sans"/>
                <a:sym typeface="Canva Sans"/>
                <a:hlinkClick r:id="rId2" tooltip="https://www.sciencedirect.com/science/article/pii/S2666188825004721"/>
              </a:rPr>
              <a:t>Global development patterns: A clustering analysis of economic, social and environmental indicators.</a:t>
            </a:r>
          </a:p>
          <a:p>
            <a:pPr algn="l">
              <a:lnSpc>
                <a:spcPts val="5438"/>
              </a:lnSpc>
            </a:pPr>
            <a:r>
              <a:rPr lang="en-US" sz="3884">
                <a:solidFill>
                  <a:srgbClr val="000000"/>
                </a:solidFill>
                <a:latin typeface="Canva Sans"/>
                <a:ea typeface="Canva Sans"/>
                <a:cs typeface="Canva Sans"/>
                <a:sym typeface="Canva Sans"/>
              </a:rPr>
              <a:t>This original study, though, emphasizes the aspect of sustainability and employs a single algorithm. The project adopts a more exploratory approach by integrating datasets with different perspectives and testing multiple algorithms in order to try to identify when meaningful clusters can be obtained.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24000" y="3503096"/>
            <a:ext cx="8735987" cy="5755204"/>
          </a:xfrm>
          <a:custGeom>
            <a:avLst/>
            <a:gdLst/>
            <a:ahLst/>
            <a:cxnLst/>
            <a:rect r="r" b="b" t="t" l="l"/>
            <a:pathLst>
              <a:path h="5755204" w="8735987">
                <a:moveTo>
                  <a:pt x="0" y="0"/>
                </a:moveTo>
                <a:lnTo>
                  <a:pt x="8735987" y="0"/>
                </a:lnTo>
                <a:lnTo>
                  <a:pt x="8735987" y="5755204"/>
                </a:lnTo>
                <a:lnTo>
                  <a:pt x="0" y="5755204"/>
                </a:lnTo>
                <a:lnTo>
                  <a:pt x="0" y="0"/>
                </a:lnTo>
                <a:close/>
              </a:path>
            </a:pathLst>
          </a:custGeom>
          <a:blipFill>
            <a:blip r:embed="rId2"/>
            <a:stretch>
              <a:fillRect l="0" t="0" r="0" b="0"/>
            </a:stretch>
          </a:blipFill>
        </p:spPr>
      </p:sp>
      <p:sp>
        <p:nvSpPr>
          <p:cNvPr name="TextBox 3" id="3"/>
          <p:cNvSpPr txBox="true"/>
          <p:nvPr/>
        </p:nvSpPr>
        <p:spPr>
          <a:xfrm rot="0">
            <a:off x="1028700" y="933450"/>
            <a:ext cx="6651873"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Preprocessing steps:</a:t>
            </a:r>
          </a:p>
        </p:txBody>
      </p:sp>
      <p:sp>
        <p:nvSpPr>
          <p:cNvPr name="TextBox 4" id="4"/>
          <p:cNvSpPr txBox="true"/>
          <p:nvPr/>
        </p:nvSpPr>
        <p:spPr>
          <a:xfrm rot="0">
            <a:off x="1028700" y="2162398"/>
            <a:ext cx="8631287" cy="1811020"/>
          </a:xfrm>
          <a:prstGeom prst="rect">
            <a:avLst/>
          </a:prstGeom>
        </p:spPr>
        <p:txBody>
          <a:bodyPr anchor="t" rtlCol="false" tIns="0" lIns="0" bIns="0" rIns="0">
            <a:spAutoFit/>
          </a:bodyPr>
          <a:lstStyle/>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WDI attribute selection</a:t>
            </a:r>
          </a:p>
          <a:p>
            <a:pPr algn="l">
              <a:lnSpc>
                <a:spcPts val="7279"/>
              </a:lnSpc>
            </a:pPr>
          </a:p>
        </p:txBody>
      </p:sp>
      <p:sp>
        <p:nvSpPr>
          <p:cNvPr name="Freeform 5" id="5"/>
          <p:cNvSpPr/>
          <p:nvPr/>
        </p:nvSpPr>
        <p:spPr>
          <a:xfrm flipH="false" flipV="false" rot="0">
            <a:off x="9714104" y="3503096"/>
            <a:ext cx="4226683" cy="1762943"/>
          </a:xfrm>
          <a:custGeom>
            <a:avLst/>
            <a:gdLst/>
            <a:ahLst/>
            <a:cxnLst/>
            <a:rect r="r" b="b" t="t" l="l"/>
            <a:pathLst>
              <a:path h="1762943" w="4226683">
                <a:moveTo>
                  <a:pt x="0" y="0"/>
                </a:moveTo>
                <a:lnTo>
                  <a:pt x="4226683" y="0"/>
                </a:lnTo>
                <a:lnTo>
                  <a:pt x="4226683" y="1762943"/>
                </a:lnTo>
                <a:lnTo>
                  <a:pt x="0" y="1762943"/>
                </a:lnTo>
                <a:lnTo>
                  <a:pt x="0" y="0"/>
                </a:lnTo>
                <a:close/>
              </a:path>
            </a:pathLst>
          </a:custGeom>
          <a:blipFill>
            <a:blip r:embed="rId3"/>
            <a:stretch>
              <a:fillRect l="0" t="0" r="0" b="0"/>
            </a:stretch>
          </a:blipFill>
        </p:spPr>
      </p:sp>
      <p:sp>
        <p:nvSpPr>
          <p:cNvPr name="Freeform 6" id="6"/>
          <p:cNvSpPr/>
          <p:nvPr/>
        </p:nvSpPr>
        <p:spPr>
          <a:xfrm flipH="false" flipV="false" rot="0">
            <a:off x="9714104" y="5287746"/>
            <a:ext cx="7545196" cy="2970921"/>
          </a:xfrm>
          <a:custGeom>
            <a:avLst/>
            <a:gdLst/>
            <a:ahLst/>
            <a:cxnLst/>
            <a:rect r="r" b="b" t="t" l="l"/>
            <a:pathLst>
              <a:path h="2970921" w="7545196">
                <a:moveTo>
                  <a:pt x="0" y="0"/>
                </a:moveTo>
                <a:lnTo>
                  <a:pt x="7545196" y="0"/>
                </a:lnTo>
                <a:lnTo>
                  <a:pt x="7545196" y="2970921"/>
                </a:lnTo>
                <a:lnTo>
                  <a:pt x="0" y="2970921"/>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33450"/>
            <a:ext cx="6651873"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Preprocessing steps:</a:t>
            </a:r>
          </a:p>
        </p:txBody>
      </p:sp>
      <p:sp>
        <p:nvSpPr>
          <p:cNvPr name="TextBox 3" id="3"/>
          <p:cNvSpPr txBox="true"/>
          <p:nvPr/>
        </p:nvSpPr>
        <p:spPr>
          <a:xfrm rot="0">
            <a:off x="1028700" y="2162398"/>
            <a:ext cx="16230600" cy="7082098"/>
          </a:xfrm>
          <a:prstGeom prst="rect">
            <a:avLst/>
          </a:prstGeom>
        </p:spPr>
        <p:txBody>
          <a:bodyPr anchor="t" rtlCol="false" tIns="0" lIns="0" bIns="0" rIns="0">
            <a:spAutoFit/>
          </a:bodyPr>
          <a:lstStyle/>
          <a:p>
            <a:pPr algn="l" marL="1114466" indent="-557233" lvl="1">
              <a:lnSpc>
                <a:spcPts val="7226"/>
              </a:lnSpc>
              <a:buFont typeface="Arial"/>
              <a:buChar char="•"/>
            </a:pPr>
            <a:r>
              <a:rPr lang="en-US" b="true" sz="5161">
                <a:solidFill>
                  <a:srgbClr val="000000"/>
                </a:solidFill>
                <a:latin typeface="Canva Sans Bold"/>
                <a:ea typeface="Canva Sans Bold"/>
                <a:cs typeface="Canva Sans Bold"/>
                <a:sym typeface="Canva Sans Bold"/>
              </a:rPr>
              <a:t>WDI attribute selection</a:t>
            </a:r>
          </a:p>
          <a:p>
            <a:pPr algn="l" marL="1114466" indent="-557233" lvl="1">
              <a:lnSpc>
                <a:spcPts val="7226"/>
              </a:lnSpc>
              <a:buFont typeface="Arial"/>
              <a:buChar char="•"/>
            </a:pPr>
            <a:r>
              <a:rPr lang="en-US" b="true" sz="5161">
                <a:solidFill>
                  <a:srgbClr val="000000"/>
                </a:solidFill>
                <a:latin typeface="Canva Sans Bold"/>
                <a:ea typeface="Canva Sans Bold"/>
                <a:cs typeface="Canva Sans Bold"/>
                <a:sym typeface="Canva Sans Bold"/>
              </a:rPr>
              <a:t>WHR attribute selection</a:t>
            </a:r>
          </a:p>
          <a:p>
            <a:pPr algn="l" marL="1114466" indent="-557233" lvl="1">
              <a:lnSpc>
                <a:spcPts val="7226"/>
              </a:lnSpc>
              <a:buFont typeface="Arial"/>
              <a:buChar char="•"/>
            </a:pPr>
            <a:r>
              <a:rPr lang="en-US" b="true" sz="5161">
                <a:solidFill>
                  <a:srgbClr val="000000"/>
                </a:solidFill>
                <a:latin typeface="Canva Sans Bold"/>
                <a:ea typeface="Canva Sans Bold"/>
                <a:cs typeface="Canva Sans Bold"/>
                <a:sym typeface="Canva Sans Bold"/>
              </a:rPr>
              <a:t>Dataset integration</a:t>
            </a:r>
          </a:p>
          <a:p>
            <a:pPr algn="l" marL="1114466" indent="-557233" lvl="1">
              <a:lnSpc>
                <a:spcPts val="7226"/>
              </a:lnSpc>
              <a:buFont typeface="Arial"/>
              <a:buChar char="•"/>
            </a:pPr>
            <a:r>
              <a:rPr lang="en-US" b="true" sz="5161">
                <a:solidFill>
                  <a:srgbClr val="000000"/>
                </a:solidFill>
                <a:latin typeface="Canva Sans Bold"/>
                <a:ea typeface="Canva Sans Bold"/>
                <a:cs typeface="Canva Sans Bold"/>
                <a:sym typeface="Canva Sans Bold"/>
              </a:rPr>
              <a:t>Final dimension reduction</a:t>
            </a:r>
          </a:p>
          <a:p>
            <a:pPr algn="l" marL="1114466" indent="-557233" lvl="1">
              <a:lnSpc>
                <a:spcPts val="7226"/>
              </a:lnSpc>
              <a:buFont typeface="Arial"/>
              <a:buChar char="•"/>
            </a:pPr>
            <a:r>
              <a:rPr lang="en-US" b="true" sz="5161">
                <a:solidFill>
                  <a:srgbClr val="000000"/>
                </a:solidFill>
                <a:latin typeface="Canva Sans Bold"/>
                <a:ea typeface="Canva Sans Bold"/>
                <a:cs typeface="Canva Sans Bold"/>
                <a:sym typeface="Canva Sans Bold"/>
              </a:rPr>
              <a:t>Missing values cleaning and final normalization</a:t>
            </a:r>
          </a:p>
          <a:p>
            <a:pPr algn="l">
              <a:lnSpc>
                <a:spcPts val="7226"/>
              </a:lnSpc>
            </a:pPr>
          </a:p>
          <a:p>
            <a:pPr algn="ctr">
              <a:lnSpc>
                <a:spcPts val="6392"/>
              </a:lnSpc>
            </a:pPr>
            <a:r>
              <a:rPr lang="en-US" sz="4566">
                <a:solidFill>
                  <a:srgbClr val="000000"/>
                </a:solidFill>
                <a:latin typeface="Canva Sans"/>
                <a:ea typeface="Canva Sans"/>
                <a:cs typeface="Canva Sans"/>
                <a:sym typeface="Canva Sans"/>
              </a:rPr>
              <a:t>End result: 24 attributes, 1 dataset per year (2005/2022)</a:t>
            </a:r>
          </a:p>
          <a:p>
            <a:pPr algn="ctr">
              <a:lnSpc>
                <a:spcPts val="6392"/>
              </a:lnSpc>
            </a:pPr>
            <a:r>
              <a:rPr lang="en-US" sz="4566">
                <a:solidFill>
                  <a:srgbClr val="000000"/>
                </a:solidFill>
                <a:latin typeface="Canva Sans"/>
                <a:ea typeface="Canva Sans"/>
                <a:cs typeface="Canva Sans"/>
                <a:sym typeface="Canva Sans"/>
              </a:rPr>
              <a:t>Reference year for clustering exploration: 2017</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984829"/>
            <a:ext cx="16230600" cy="6132739"/>
          </a:xfrm>
          <a:prstGeom prst="rect">
            <a:avLst/>
          </a:prstGeom>
        </p:spPr>
        <p:txBody>
          <a:bodyPr anchor="t" rtlCol="false" tIns="0" lIns="0" bIns="0" rIns="0">
            <a:spAutoFit/>
          </a:bodyPr>
          <a:lstStyle/>
          <a:p>
            <a:pPr algn="l" marL="836582" indent="-418291" lvl="1">
              <a:lnSpc>
                <a:spcPts val="5424"/>
              </a:lnSpc>
              <a:buFont typeface="Arial"/>
              <a:buChar char="•"/>
            </a:pPr>
            <a:r>
              <a:rPr lang="en-US" sz="3874">
                <a:solidFill>
                  <a:srgbClr val="000000"/>
                </a:solidFill>
                <a:latin typeface="Canva Sans"/>
                <a:ea typeface="Canva Sans"/>
                <a:cs typeface="Canva Sans"/>
                <a:sym typeface="Canva Sans"/>
              </a:rPr>
              <a:t>K-means</a:t>
            </a:r>
          </a:p>
          <a:p>
            <a:pPr algn="l" marL="836582" indent="-418291" lvl="1">
              <a:lnSpc>
                <a:spcPts val="5424"/>
              </a:lnSpc>
              <a:buFont typeface="Arial"/>
              <a:buChar char="•"/>
            </a:pPr>
            <a:r>
              <a:rPr lang="en-US" sz="3874">
                <a:solidFill>
                  <a:srgbClr val="000000"/>
                </a:solidFill>
                <a:latin typeface="Canva Sans"/>
                <a:ea typeface="Canva Sans"/>
                <a:cs typeface="Canva Sans"/>
                <a:sym typeface="Canva Sans"/>
              </a:rPr>
              <a:t>CLARA (K-medoids)</a:t>
            </a:r>
          </a:p>
          <a:p>
            <a:pPr algn="l" marL="836582" indent="-418291" lvl="1">
              <a:lnSpc>
                <a:spcPts val="5424"/>
              </a:lnSpc>
              <a:buFont typeface="Arial"/>
              <a:buChar char="•"/>
            </a:pPr>
            <a:r>
              <a:rPr lang="en-US" sz="3874">
                <a:solidFill>
                  <a:srgbClr val="000000"/>
                </a:solidFill>
                <a:latin typeface="Canva Sans"/>
                <a:ea typeface="Canva Sans"/>
                <a:cs typeface="Canva Sans"/>
                <a:sym typeface="Canva Sans"/>
              </a:rPr>
              <a:t>DBSCAN</a:t>
            </a:r>
          </a:p>
          <a:p>
            <a:pPr algn="l" marL="836582" indent="-418291" lvl="1">
              <a:lnSpc>
                <a:spcPts val="5424"/>
              </a:lnSpc>
              <a:buFont typeface="Arial"/>
              <a:buChar char="•"/>
            </a:pPr>
            <a:r>
              <a:rPr lang="en-US" sz="3874">
                <a:solidFill>
                  <a:srgbClr val="000000"/>
                </a:solidFill>
                <a:latin typeface="Canva Sans"/>
                <a:ea typeface="Canva Sans"/>
                <a:cs typeface="Canva Sans"/>
                <a:sym typeface="Canva Sans"/>
              </a:rPr>
              <a:t>Agglomerative Hierarchical</a:t>
            </a:r>
          </a:p>
          <a:p>
            <a:pPr algn="l">
              <a:lnSpc>
                <a:spcPts val="5424"/>
              </a:lnSpc>
            </a:pPr>
          </a:p>
          <a:p>
            <a:pPr algn="l">
              <a:lnSpc>
                <a:spcPts val="5424"/>
              </a:lnSpc>
            </a:pPr>
            <a:r>
              <a:rPr lang="en-US" sz="3874">
                <a:solidFill>
                  <a:srgbClr val="000000"/>
                </a:solidFill>
                <a:latin typeface="Canva Sans"/>
                <a:ea typeface="Canva Sans"/>
                <a:cs typeface="Canva Sans"/>
                <a:sym typeface="Canva Sans"/>
              </a:rPr>
              <a:t>Multiple algorithms to compare different clustering techniques.</a:t>
            </a:r>
          </a:p>
          <a:p>
            <a:pPr algn="l">
              <a:lnSpc>
                <a:spcPts val="5424"/>
              </a:lnSpc>
            </a:pPr>
          </a:p>
          <a:p>
            <a:pPr algn="l">
              <a:lnSpc>
                <a:spcPts val="5424"/>
              </a:lnSpc>
            </a:pPr>
            <a:r>
              <a:rPr lang="en-US" sz="3874">
                <a:solidFill>
                  <a:srgbClr val="000000"/>
                </a:solidFill>
                <a:latin typeface="Canva Sans"/>
                <a:ea typeface="Canva Sans"/>
                <a:cs typeface="Canva Sans"/>
                <a:sym typeface="Canva Sans"/>
              </a:rPr>
              <a:t>Clustering tendency measured </a:t>
            </a:r>
          </a:p>
          <a:p>
            <a:pPr algn="l">
              <a:lnSpc>
                <a:spcPts val="5424"/>
              </a:lnSpc>
            </a:pPr>
            <a:r>
              <a:rPr lang="en-US" sz="3874">
                <a:solidFill>
                  <a:srgbClr val="000000"/>
                </a:solidFill>
                <a:latin typeface="Canva Sans"/>
                <a:ea typeface="Canva Sans"/>
                <a:cs typeface="Canva Sans"/>
                <a:sym typeface="Canva Sans"/>
              </a:rPr>
              <a:t>with Hopkins Statistic (30 iterations)</a:t>
            </a:r>
          </a:p>
        </p:txBody>
      </p:sp>
      <p:sp>
        <p:nvSpPr>
          <p:cNvPr name="Freeform 3" id="3"/>
          <p:cNvSpPr/>
          <p:nvPr/>
        </p:nvSpPr>
        <p:spPr>
          <a:xfrm flipH="false" flipV="false" rot="0">
            <a:off x="11545909" y="6299300"/>
            <a:ext cx="4489659" cy="3337964"/>
          </a:xfrm>
          <a:custGeom>
            <a:avLst/>
            <a:gdLst/>
            <a:ahLst/>
            <a:cxnLst/>
            <a:rect r="r" b="b" t="t" l="l"/>
            <a:pathLst>
              <a:path h="3337964" w="4489659">
                <a:moveTo>
                  <a:pt x="0" y="0"/>
                </a:moveTo>
                <a:lnTo>
                  <a:pt x="4489659" y="0"/>
                </a:lnTo>
                <a:lnTo>
                  <a:pt x="4489659" y="3337964"/>
                </a:lnTo>
                <a:lnTo>
                  <a:pt x="0" y="3337964"/>
                </a:lnTo>
                <a:lnTo>
                  <a:pt x="0" y="0"/>
                </a:lnTo>
                <a:close/>
              </a:path>
            </a:pathLst>
          </a:custGeom>
          <a:blipFill>
            <a:blip r:embed="rId2"/>
            <a:stretch>
              <a:fillRect l="0" t="0" r="0" b="0"/>
            </a:stretch>
          </a:blipFill>
        </p:spPr>
      </p:sp>
      <p:sp>
        <p:nvSpPr>
          <p:cNvPr name="TextBox 4" id="4"/>
          <p:cNvSpPr txBox="true"/>
          <p:nvPr/>
        </p:nvSpPr>
        <p:spPr>
          <a:xfrm rot="0">
            <a:off x="1028700" y="933450"/>
            <a:ext cx="6209556"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Algorithms chosen: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8988" y="1820545"/>
            <a:ext cx="10094144" cy="6094339"/>
          </a:xfrm>
          <a:custGeom>
            <a:avLst/>
            <a:gdLst/>
            <a:ahLst/>
            <a:cxnLst/>
            <a:rect r="r" b="b" t="t" l="l"/>
            <a:pathLst>
              <a:path h="6094339" w="10094144">
                <a:moveTo>
                  <a:pt x="0" y="0"/>
                </a:moveTo>
                <a:lnTo>
                  <a:pt x="10094143" y="0"/>
                </a:lnTo>
                <a:lnTo>
                  <a:pt x="10094143" y="6094339"/>
                </a:lnTo>
                <a:lnTo>
                  <a:pt x="0" y="6094339"/>
                </a:lnTo>
                <a:lnTo>
                  <a:pt x="0" y="0"/>
                </a:lnTo>
                <a:close/>
              </a:path>
            </a:pathLst>
          </a:custGeom>
          <a:blipFill>
            <a:blip r:embed="rId2"/>
            <a:stretch>
              <a:fillRect l="0" t="0" r="0" b="0"/>
            </a:stretch>
          </a:blipFill>
        </p:spPr>
      </p:sp>
      <p:sp>
        <p:nvSpPr>
          <p:cNvPr name="TextBox 3" id="3"/>
          <p:cNvSpPr txBox="true"/>
          <p:nvPr/>
        </p:nvSpPr>
        <p:spPr>
          <a:xfrm rot="0">
            <a:off x="1028700" y="933450"/>
            <a:ext cx="2927449"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K-Means:</a:t>
            </a:r>
          </a:p>
        </p:txBody>
      </p:sp>
      <p:sp>
        <p:nvSpPr>
          <p:cNvPr name="TextBox 4" id="4"/>
          <p:cNvSpPr txBox="true"/>
          <p:nvPr/>
        </p:nvSpPr>
        <p:spPr>
          <a:xfrm rot="0">
            <a:off x="10928467" y="989770"/>
            <a:ext cx="6226169" cy="7698739"/>
          </a:xfrm>
          <a:prstGeom prst="rect">
            <a:avLst/>
          </a:prstGeom>
        </p:spPr>
        <p:txBody>
          <a:bodyPr anchor="t" rtlCol="false" tIns="0" lIns="0" bIns="0" rIns="0">
            <a:spAutoFit/>
          </a:bodyPr>
          <a:lstStyle/>
          <a:p>
            <a:pPr algn="l" marL="626122" indent="-313061" lvl="1">
              <a:lnSpc>
                <a:spcPts val="4060"/>
              </a:lnSpc>
              <a:buFont typeface="Arial"/>
              <a:buChar char="•"/>
            </a:pPr>
            <a:r>
              <a:rPr lang="en-US" b="true" sz="2900">
                <a:solidFill>
                  <a:srgbClr val="000000"/>
                </a:solidFill>
                <a:latin typeface="Canva Sans Bold"/>
                <a:ea typeface="Canva Sans Bold"/>
                <a:cs typeface="Canva Sans Bold"/>
                <a:sym typeface="Canva Sans Bold"/>
              </a:rPr>
              <a:t>Cluster 0: </a:t>
            </a:r>
            <a:r>
              <a:rPr lang="en-US" sz="2900">
                <a:solidFill>
                  <a:srgbClr val="000000"/>
                </a:solidFill>
                <a:latin typeface="Canva Sans"/>
                <a:ea typeface="Canva Sans"/>
                <a:cs typeface="Canva Sans"/>
                <a:sym typeface="Canva Sans"/>
              </a:rPr>
              <a:t>Good energy infrastructure, institutional weaknesses, high</a:t>
            </a:r>
          </a:p>
          <a:p>
            <a:pPr algn="l" marL="626122" indent="-313061" lvl="1">
              <a:lnSpc>
                <a:spcPts val="4060"/>
              </a:lnSpc>
              <a:buFont typeface="Arial"/>
              <a:buChar char="•"/>
            </a:pPr>
            <a:r>
              <a:rPr lang="en-US" sz="2900">
                <a:solidFill>
                  <a:srgbClr val="000000"/>
                </a:solidFill>
                <a:latin typeface="Canva Sans"/>
                <a:ea typeface="Canva Sans"/>
                <a:cs typeface="Canva Sans"/>
                <a:sym typeface="Canva Sans"/>
              </a:rPr>
              <a:t>perceived corruption, unstable economy</a:t>
            </a:r>
          </a:p>
          <a:p>
            <a:pPr algn="l" marL="626122" indent="-313061" lvl="1">
              <a:lnSpc>
                <a:spcPts val="4060"/>
              </a:lnSpc>
              <a:buFont typeface="Arial"/>
              <a:buChar char="•"/>
            </a:pPr>
            <a:r>
              <a:rPr lang="en-US" b="true" sz="2900">
                <a:solidFill>
                  <a:srgbClr val="000000"/>
                </a:solidFill>
                <a:latin typeface="Canva Sans Bold"/>
                <a:ea typeface="Canva Sans Bold"/>
                <a:cs typeface="Canva Sans Bold"/>
                <a:sym typeface="Canva Sans Bold"/>
              </a:rPr>
              <a:t>Cluster 1: </a:t>
            </a:r>
            <a:r>
              <a:rPr lang="en-US" sz="2900">
                <a:solidFill>
                  <a:srgbClr val="000000"/>
                </a:solidFill>
                <a:latin typeface="Canva Sans"/>
                <a:ea typeface="Canva Sans"/>
                <a:cs typeface="Canva Sans"/>
                <a:sym typeface="Canva Sans"/>
              </a:rPr>
              <a:t>Economically developed, urbanized countries.</a:t>
            </a:r>
          </a:p>
          <a:p>
            <a:pPr algn="l" marL="626122" indent="-313061" lvl="1">
              <a:lnSpc>
                <a:spcPts val="4060"/>
              </a:lnSpc>
              <a:buFont typeface="Arial"/>
              <a:buChar char="•"/>
            </a:pPr>
            <a:r>
              <a:rPr lang="en-US" b="true" sz="2900">
                <a:solidFill>
                  <a:srgbClr val="000000"/>
                </a:solidFill>
                <a:latin typeface="Canva Sans Bold"/>
                <a:ea typeface="Canva Sans Bold"/>
                <a:cs typeface="Canva Sans Bold"/>
                <a:sym typeface="Canva Sans Bold"/>
              </a:rPr>
              <a:t>Cluster 2: </a:t>
            </a:r>
            <a:r>
              <a:rPr lang="en-US" sz="2900">
                <a:solidFill>
                  <a:srgbClr val="000000"/>
                </a:solidFill>
                <a:latin typeface="Canva Sans"/>
                <a:ea typeface="Canva Sans"/>
                <a:cs typeface="Canva Sans"/>
                <a:sym typeface="Canva Sans"/>
              </a:rPr>
              <a:t>Low income, limited digitalization and urbanization, high vulnerable employment. </a:t>
            </a:r>
          </a:p>
          <a:p>
            <a:pPr algn="l" marL="626122" indent="-313061" lvl="1">
              <a:lnSpc>
                <a:spcPts val="4060"/>
              </a:lnSpc>
              <a:buFont typeface="Arial"/>
              <a:buChar char="•"/>
            </a:pPr>
            <a:r>
              <a:rPr lang="en-US" b="true" sz="2900">
                <a:solidFill>
                  <a:srgbClr val="000000"/>
                </a:solidFill>
                <a:latin typeface="Canva Sans Bold"/>
                <a:ea typeface="Canva Sans Bold"/>
                <a:cs typeface="Canva Sans Bold"/>
                <a:sym typeface="Canva Sans Bold"/>
              </a:rPr>
              <a:t>Cluster 3: </a:t>
            </a:r>
            <a:r>
              <a:rPr lang="en-US" sz="2900">
                <a:solidFill>
                  <a:srgbClr val="000000"/>
                </a:solidFill>
                <a:latin typeface="Canva Sans"/>
                <a:ea typeface="Canva Sans"/>
                <a:cs typeface="Canva Sans"/>
                <a:sym typeface="Canva Sans"/>
              </a:rPr>
              <a:t>Energy infrastructure in place but unsustainable, with significant social fragility.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127" y="1986211"/>
            <a:ext cx="11301259" cy="6314578"/>
          </a:xfrm>
          <a:custGeom>
            <a:avLst/>
            <a:gdLst/>
            <a:ahLst/>
            <a:cxnLst/>
            <a:rect r="r" b="b" t="t" l="l"/>
            <a:pathLst>
              <a:path h="6314578" w="11301259">
                <a:moveTo>
                  <a:pt x="0" y="0"/>
                </a:moveTo>
                <a:lnTo>
                  <a:pt x="11301258" y="0"/>
                </a:lnTo>
                <a:lnTo>
                  <a:pt x="11301258" y="6314578"/>
                </a:lnTo>
                <a:lnTo>
                  <a:pt x="0" y="6314578"/>
                </a:lnTo>
                <a:lnTo>
                  <a:pt x="0" y="0"/>
                </a:lnTo>
                <a:close/>
              </a:path>
            </a:pathLst>
          </a:custGeom>
          <a:blipFill>
            <a:blip r:embed="rId2"/>
            <a:stretch>
              <a:fillRect l="0" t="0" r="0" b="0"/>
            </a:stretch>
          </a:blipFill>
        </p:spPr>
      </p:sp>
      <p:sp>
        <p:nvSpPr>
          <p:cNvPr name="TextBox 3" id="3"/>
          <p:cNvSpPr txBox="true"/>
          <p:nvPr/>
        </p:nvSpPr>
        <p:spPr>
          <a:xfrm rot="0">
            <a:off x="1028700" y="933450"/>
            <a:ext cx="2389584"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CLARA:</a:t>
            </a:r>
          </a:p>
        </p:txBody>
      </p:sp>
      <p:sp>
        <p:nvSpPr>
          <p:cNvPr name="TextBox 4" id="4"/>
          <p:cNvSpPr txBox="true"/>
          <p:nvPr/>
        </p:nvSpPr>
        <p:spPr>
          <a:xfrm rot="0">
            <a:off x="11033131" y="1333938"/>
            <a:ext cx="6226169" cy="7581025"/>
          </a:xfrm>
          <a:prstGeom prst="rect">
            <a:avLst/>
          </a:prstGeom>
        </p:spPr>
        <p:txBody>
          <a:bodyPr anchor="t" rtlCol="false" tIns="0" lIns="0" bIns="0" rIns="0">
            <a:spAutoFit/>
          </a:bodyPr>
          <a:lstStyle/>
          <a:p>
            <a:pPr algn="l" marL="493215" indent="-246608" lvl="1">
              <a:lnSpc>
                <a:spcPts val="3198"/>
              </a:lnSpc>
              <a:buFont typeface="Arial"/>
              <a:buChar char="•"/>
            </a:pPr>
            <a:r>
              <a:rPr lang="en-US" b="true" sz="2284">
                <a:solidFill>
                  <a:srgbClr val="000000"/>
                </a:solidFill>
                <a:latin typeface="Canva Sans Bold"/>
                <a:ea typeface="Canva Sans Bold"/>
                <a:cs typeface="Canva Sans Bold"/>
                <a:sym typeface="Canva Sans Bold"/>
              </a:rPr>
              <a:t>Cluster 0: </a:t>
            </a:r>
            <a:r>
              <a:rPr lang="en-US" sz="2284">
                <a:solidFill>
                  <a:srgbClr val="000000"/>
                </a:solidFill>
                <a:latin typeface="Canva Sans"/>
                <a:ea typeface="Canva Sans"/>
                <a:cs typeface="Canva Sans"/>
                <a:sym typeface="Canva Sans"/>
              </a:rPr>
              <a:t>Strong energy access, low job participation, limited generosity, high corruption concerns.</a:t>
            </a:r>
          </a:p>
          <a:p>
            <a:pPr algn="l" marL="493215" indent="-246608" lvl="1">
              <a:lnSpc>
                <a:spcPts val="3198"/>
              </a:lnSpc>
              <a:buFont typeface="Arial"/>
              <a:buChar char="•"/>
            </a:pPr>
            <a:r>
              <a:rPr lang="en-US" b="true" sz="2284">
                <a:solidFill>
                  <a:srgbClr val="000000"/>
                </a:solidFill>
                <a:latin typeface="Canva Sans Bold"/>
                <a:ea typeface="Canva Sans Bold"/>
                <a:cs typeface="Canva Sans Bold"/>
                <a:sym typeface="Canva Sans Bold"/>
              </a:rPr>
              <a:t>Cluster 1: </a:t>
            </a:r>
            <a:r>
              <a:rPr lang="en-US" sz="2284">
                <a:solidFill>
                  <a:srgbClr val="000000"/>
                </a:solidFill>
                <a:latin typeface="Canva Sans"/>
                <a:ea typeface="Canva Sans"/>
                <a:cs typeface="Canva Sans"/>
                <a:sym typeface="Canva Sans"/>
              </a:rPr>
              <a:t>Low income and industrial output, rural, high social support and generosity, widespread corruption concerns.</a:t>
            </a:r>
          </a:p>
          <a:p>
            <a:pPr algn="l" marL="493215" indent="-246608" lvl="1">
              <a:lnSpc>
                <a:spcPts val="3198"/>
              </a:lnSpc>
              <a:buFont typeface="Arial"/>
              <a:buChar char="•"/>
            </a:pPr>
            <a:r>
              <a:rPr lang="en-US" b="true" sz="2284">
                <a:solidFill>
                  <a:srgbClr val="000000"/>
                </a:solidFill>
                <a:latin typeface="Canva Sans Bold"/>
                <a:ea typeface="Canva Sans Bold"/>
                <a:cs typeface="Canva Sans Bold"/>
                <a:sym typeface="Canva Sans Bold"/>
              </a:rPr>
              <a:t>Cluster 2: </a:t>
            </a:r>
            <a:r>
              <a:rPr lang="en-US" sz="2284">
                <a:solidFill>
                  <a:srgbClr val="000000"/>
                </a:solidFill>
                <a:latin typeface="Canva Sans"/>
                <a:ea typeface="Canva Sans"/>
                <a:cs typeface="Canva Sans"/>
                <a:sym typeface="Canva Sans"/>
              </a:rPr>
              <a:t>Economically strong and connected, low vulnerable jobs, high life satisfaction.</a:t>
            </a:r>
          </a:p>
          <a:p>
            <a:pPr algn="l" marL="493215" indent="-246608" lvl="1">
              <a:lnSpc>
                <a:spcPts val="3198"/>
              </a:lnSpc>
              <a:buFont typeface="Arial"/>
              <a:buChar char="•"/>
            </a:pPr>
            <a:r>
              <a:rPr lang="en-US" b="true" sz="2284">
                <a:solidFill>
                  <a:srgbClr val="000000"/>
                </a:solidFill>
                <a:latin typeface="Canva Sans Bold"/>
                <a:ea typeface="Canva Sans Bold"/>
                <a:cs typeface="Canva Sans Bold"/>
                <a:sym typeface="Canva Sans Bold"/>
              </a:rPr>
              <a:t>Cluster 3: </a:t>
            </a:r>
            <a:r>
              <a:rPr lang="en-US" sz="2284">
                <a:solidFill>
                  <a:srgbClr val="000000"/>
                </a:solidFill>
                <a:latin typeface="Canva Sans"/>
                <a:ea typeface="Canva Sans"/>
                <a:cs typeface="Canva Sans"/>
                <a:sym typeface="Canva Sans"/>
              </a:rPr>
              <a:t>Economically weak and less connected, low urbanization, high renewables, mixed well-being.</a:t>
            </a:r>
          </a:p>
          <a:p>
            <a:pPr algn="l" marL="493215" indent="-246608" lvl="1">
              <a:lnSpc>
                <a:spcPts val="3198"/>
              </a:lnSpc>
              <a:buFont typeface="Arial"/>
              <a:buChar char="•"/>
            </a:pPr>
            <a:r>
              <a:rPr lang="en-US" b="true" sz="2284">
                <a:solidFill>
                  <a:srgbClr val="000000"/>
                </a:solidFill>
                <a:latin typeface="Canva Sans Bold"/>
                <a:ea typeface="Canva Sans Bold"/>
                <a:cs typeface="Canva Sans Bold"/>
                <a:sym typeface="Canva Sans Bold"/>
              </a:rPr>
              <a:t>Cluster 4: </a:t>
            </a:r>
            <a:r>
              <a:rPr lang="en-US" sz="2284">
                <a:solidFill>
                  <a:srgbClr val="000000"/>
                </a:solidFill>
                <a:latin typeface="Canva Sans"/>
                <a:ea typeface="Canva Sans"/>
                <a:cs typeface="Canva Sans"/>
                <a:sym typeface="Canva Sans"/>
              </a:rPr>
              <a:t>High energy access and urbanization, limited renewables and fragile social cohesion.</a:t>
            </a:r>
          </a:p>
          <a:p>
            <a:pPr algn="l" marL="493215" indent="-246608" lvl="1">
              <a:lnSpc>
                <a:spcPts val="3198"/>
              </a:lnSpc>
              <a:buFont typeface="Arial"/>
              <a:buChar char="•"/>
            </a:pPr>
            <a:r>
              <a:rPr lang="en-US" b="true" sz="2284">
                <a:solidFill>
                  <a:srgbClr val="000000"/>
                </a:solidFill>
                <a:latin typeface="Canva Sans Bold"/>
                <a:ea typeface="Canva Sans Bold"/>
                <a:cs typeface="Canva Sans Bold"/>
                <a:sym typeface="Canva Sans Bold"/>
              </a:rPr>
              <a:t>Cluster 5:</a:t>
            </a:r>
            <a:r>
              <a:rPr lang="en-US" sz="2284">
                <a:solidFill>
                  <a:srgbClr val="000000"/>
                </a:solidFill>
                <a:latin typeface="Canva Sans"/>
                <a:ea typeface="Canva Sans"/>
                <a:cs typeface="Canva Sans"/>
                <a:sym typeface="Canva Sans"/>
              </a:rPr>
              <a:t> Economically weak, low exports and digital access, fragile social mood.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7310" y="2263604"/>
            <a:ext cx="9142527" cy="5759792"/>
          </a:xfrm>
          <a:custGeom>
            <a:avLst/>
            <a:gdLst/>
            <a:ahLst/>
            <a:cxnLst/>
            <a:rect r="r" b="b" t="t" l="l"/>
            <a:pathLst>
              <a:path h="5759792" w="9142527">
                <a:moveTo>
                  <a:pt x="0" y="0"/>
                </a:moveTo>
                <a:lnTo>
                  <a:pt x="9142528" y="0"/>
                </a:lnTo>
                <a:lnTo>
                  <a:pt x="9142528" y="5759792"/>
                </a:lnTo>
                <a:lnTo>
                  <a:pt x="0" y="5759792"/>
                </a:lnTo>
                <a:lnTo>
                  <a:pt x="0" y="0"/>
                </a:lnTo>
                <a:close/>
              </a:path>
            </a:pathLst>
          </a:custGeom>
          <a:blipFill>
            <a:blip r:embed="rId2"/>
            <a:stretch>
              <a:fillRect l="0" t="0" r="0" b="0"/>
            </a:stretch>
          </a:blipFill>
        </p:spPr>
      </p:sp>
      <p:sp>
        <p:nvSpPr>
          <p:cNvPr name="TextBox 3" id="3"/>
          <p:cNvSpPr txBox="true"/>
          <p:nvPr/>
        </p:nvSpPr>
        <p:spPr>
          <a:xfrm rot="0">
            <a:off x="1028700" y="933450"/>
            <a:ext cx="2986832"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DBSCAN:</a:t>
            </a:r>
          </a:p>
        </p:txBody>
      </p:sp>
      <p:sp>
        <p:nvSpPr>
          <p:cNvPr name="TextBox 4" id="4"/>
          <p:cNvSpPr txBox="true"/>
          <p:nvPr/>
        </p:nvSpPr>
        <p:spPr>
          <a:xfrm rot="0">
            <a:off x="10584570" y="2679623"/>
            <a:ext cx="6226169" cy="4380625"/>
          </a:xfrm>
          <a:prstGeom prst="rect">
            <a:avLst/>
          </a:prstGeom>
        </p:spPr>
        <p:txBody>
          <a:bodyPr anchor="t" rtlCol="false" tIns="0" lIns="0" bIns="0" rIns="0">
            <a:spAutoFit/>
          </a:bodyPr>
          <a:lstStyle/>
          <a:p>
            <a:pPr algn="l" marL="493215" indent="-246608" lvl="1">
              <a:lnSpc>
                <a:spcPts val="3198"/>
              </a:lnSpc>
              <a:buFont typeface="Arial"/>
              <a:buChar char="•"/>
            </a:pPr>
            <a:r>
              <a:rPr lang="en-US" b="true" sz="2284">
                <a:solidFill>
                  <a:srgbClr val="000000"/>
                </a:solidFill>
                <a:latin typeface="Canva Sans Bold"/>
                <a:ea typeface="Canva Sans Bold"/>
                <a:cs typeface="Canva Sans Bold"/>
                <a:sym typeface="Canva Sans Bold"/>
              </a:rPr>
              <a:t>This clustering configuration returned 2 clusters and 15 outlier countries</a:t>
            </a:r>
            <a:r>
              <a:rPr lang="en-US" sz="2284">
                <a:solidFill>
                  <a:srgbClr val="000000"/>
                </a:solidFill>
                <a:latin typeface="Canva Sans"/>
                <a:ea typeface="Canva Sans"/>
                <a:cs typeface="Canva Sans"/>
                <a:sym typeface="Canva Sans"/>
              </a:rPr>
              <a:t>.</a:t>
            </a:r>
          </a:p>
          <a:p>
            <a:pPr algn="l" marL="493215" indent="-246608" lvl="1">
              <a:lnSpc>
                <a:spcPts val="3198"/>
              </a:lnSpc>
              <a:buFont typeface="Arial"/>
              <a:buChar char="•"/>
            </a:pPr>
            <a:r>
              <a:rPr lang="en-US" b="true" sz="2284">
                <a:solidFill>
                  <a:srgbClr val="000000"/>
                </a:solidFill>
                <a:latin typeface="Canva Sans Bold"/>
                <a:ea typeface="Canva Sans Bold"/>
                <a:cs typeface="Canva Sans Bold"/>
                <a:sym typeface="Canva Sans Bold"/>
              </a:rPr>
              <a:t>Cluster 1: </a:t>
            </a:r>
            <a:r>
              <a:rPr lang="en-US" sz="2284">
                <a:solidFill>
                  <a:srgbClr val="000000"/>
                </a:solidFill>
                <a:latin typeface="Canva Sans"/>
                <a:ea typeface="Canva Sans"/>
                <a:cs typeface="Canva Sans"/>
                <a:sym typeface="Canva Sans"/>
              </a:rPr>
              <a:t>Low gdp per capita, low % of individuals using the internet, low industry value added per worker, low % of population ages 15-64, high vulnerable employment.</a:t>
            </a:r>
          </a:p>
          <a:p>
            <a:pPr algn="l" marL="493215" indent="-246608" lvl="1">
              <a:lnSpc>
                <a:spcPts val="3198"/>
              </a:lnSpc>
              <a:buFont typeface="Arial"/>
              <a:buChar char="•"/>
            </a:pPr>
            <a:r>
              <a:rPr lang="en-US" b="true" sz="2284">
                <a:solidFill>
                  <a:srgbClr val="000000"/>
                </a:solidFill>
                <a:latin typeface="Canva Sans Bold"/>
                <a:ea typeface="Canva Sans Bold"/>
                <a:cs typeface="Canva Sans Bold"/>
                <a:sym typeface="Canva Sans Bold"/>
              </a:rPr>
              <a:t>Cluster 2: </a:t>
            </a:r>
            <a:r>
              <a:rPr lang="en-US" sz="2284">
                <a:solidFill>
                  <a:srgbClr val="000000"/>
                </a:solidFill>
                <a:latin typeface="Canva Sans"/>
                <a:ea typeface="Canva Sans"/>
                <a:cs typeface="Canva Sans"/>
                <a:sym typeface="Canva Sans"/>
              </a:rPr>
              <a:t>high access to electricity, high % of individuals using the internet, high % of population 15-64, low vulnerable employment.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4937" y="2377864"/>
            <a:ext cx="11301259" cy="6159186"/>
          </a:xfrm>
          <a:custGeom>
            <a:avLst/>
            <a:gdLst/>
            <a:ahLst/>
            <a:cxnLst/>
            <a:rect r="r" b="b" t="t" l="l"/>
            <a:pathLst>
              <a:path h="6159186" w="11301259">
                <a:moveTo>
                  <a:pt x="0" y="0"/>
                </a:moveTo>
                <a:lnTo>
                  <a:pt x="11301258" y="0"/>
                </a:lnTo>
                <a:lnTo>
                  <a:pt x="11301258" y="6159186"/>
                </a:lnTo>
                <a:lnTo>
                  <a:pt x="0" y="6159186"/>
                </a:lnTo>
                <a:lnTo>
                  <a:pt x="0" y="0"/>
                </a:lnTo>
                <a:close/>
              </a:path>
            </a:pathLst>
          </a:custGeom>
          <a:blipFill>
            <a:blip r:embed="rId2"/>
            <a:stretch>
              <a:fillRect l="0" t="0" r="0" b="0"/>
            </a:stretch>
          </a:blipFill>
        </p:spPr>
      </p:sp>
      <p:sp>
        <p:nvSpPr>
          <p:cNvPr name="TextBox 3" id="3"/>
          <p:cNvSpPr txBox="true"/>
          <p:nvPr/>
        </p:nvSpPr>
        <p:spPr>
          <a:xfrm rot="0">
            <a:off x="1028700" y="933450"/>
            <a:ext cx="5166866"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HIERARCHICAL:</a:t>
            </a:r>
          </a:p>
        </p:txBody>
      </p:sp>
      <p:sp>
        <p:nvSpPr>
          <p:cNvPr name="TextBox 4" id="4"/>
          <p:cNvSpPr txBox="true"/>
          <p:nvPr/>
        </p:nvSpPr>
        <p:spPr>
          <a:xfrm rot="0">
            <a:off x="11846195" y="2679623"/>
            <a:ext cx="4964543" cy="3980575"/>
          </a:xfrm>
          <a:prstGeom prst="rect">
            <a:avLst/>
          </a:prstGeom>
        </p:spPr>
        <p:txBody>
          <a:bodyPr anchor="t" rtlCol="false" tIns="0" lIns="0" bIns="0" rIns="0">
            <a:spAutoFit/>
          </a:bodyPr>
          <a:lstStyle/>
          <a:p>
            <a:pPr algn="l">
              <a:lnSpc>
                <a:spcPts val="3198"/>
              </a:lnSpc>
            </a:pPr>
          </a:p>
          <a:p>
            <a:pPr algn="l" marL="493215" indent="-246608" lvl="1">
              <a:lnSpc>
                <a:spcPts val="3198"/>
              </a:lnSpc>
              <a:buFont typeface="Arial"/>
              <a:buChar char="•"/>
            </a:pPr>
            <a:r>
              <a:rPr lang="en-US" b="true" sz="2284">
                <a:solidFill>
                  <a:srgbClr val="000000"/>
                </a:solidFill>
                <a:latin typeface="Canva Sans Bold"/>
                <a:ea typeface="Canva Sans Bold"/>
                <a:cs typeface="Canva Sans Bold"/>
                <a:sym typeface="Canva Sans Bold"/>
              </a:rPr>
              <a:t>Cluster 0: </a:t>
            </a:r>
            <a:r>
              <a:rPr lang="en-US" sz="2284">
                <a:solidFill>
                  <a:srgbClr val="000000"/>
                </a:solidFill>
                <a:latin typeface="Canva Sans"/>
                <a:ea typeface="Canva Sans"/>
                <a:cs typeface="Canva Sans"/>
                <a:sym typeface="Canva Sans"/>
              </a:rPr>
              <a:t>Economically weak, low digital and industrial activity, high employment vulnerability, limited social support.</a:t>
            </a:r>
          </a:p>
          <a:p>
            <a:pPr algn="l" marL="493215" indent="-246608" lvl="1">
              <a:lnSpc>
                <a:spcPts val="3198"/>
              </a:lnSpc>
              <a:buFont typeface="Arial"/>
              <a:buChar char="•"/>
            </a:pPr>
            <a:r>
              <a:rPr lang="en-US" b="true" sz="2284">
                <a:solidFill>
                  <a:srgbClr val="000000"/>
                </a:solidFill>
                <a:latin typeface="Canva Sans Bold"/>
                <a:ea typeface="Canva Sans Bold"/>
                <a:cs typeface="Canva Sans Bold"/>
                <a:sym typeface="Canva Sans Bold"/>
              </a:rPr>
              <a:t>Cluster 1: </a:t>
            </a:r>
            <a:r>
              <a:rPr lang="en-US" sz="2284">
                <a:solidFill>
                  <a:srgbClr val="000000"/>
                </a:solidFill>
                <a:latin typeface="Canva Sans"/>
                <a:ea typeface="Canva Sans"/>
                <a:cs typeface="Canva Sans"/>
                <a:sym typeface="Canva Sans"/>
              </a:rPr>
              <a:t>High electricity access, more digitally connected, generally low vulnerable employment.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03713" y="620681"/>
            <a:ext cx="8245559" cy="1607884"/>
          </a:xfrm>
          <a:custGeom>
            <a:avLst/>
            <a:gdLst/>
            <a:ahLst/>
            <a:cxnLst/>
            <a:rect r="r" b="b" t="t" l="l"/>
            <a:pathLst>
              <a:path h="1607884" w="8245559">
                <a:moveTo>
                  <a:pt x="0" y="0"/>
                </a:moveTo>
                <a:lnTo>
                  <a:pt x="8245559" y="0"/>
                </a:lnTo>
                <a:lnTo>
                  <a:pt x="8245559" y="1607884"/>
                </a:lnTo>
                <a:lnTo>
                  <a:pt x="0" y="1607884"/>
                </a:lnTo>
                <a:lnTo>
                  <a:pt x="0" y="0"/>
                </a:lnTo>
                <a:close/>
              </a:path>
            </a:pathLst>
          </a:custGeom>
          <a:blipFill>
            <a:blip r:embed="rId2"/>
            <a:stretch>
              <a:fillRect l="0" t="0" r="0" b="0"/>
            </a:stretch>
          </a:blipFill>
        </p:spPr>
      </p:sp>
      <p:sp>
        <p:nvSpPr>
          <p:cNvPr name="Freeform 3" id="3"/>
          <p:cNvSpPr/>
          <p:nvPr/>
        </p:nvSpPr>
        <p:spPr>
          <a:xfrm flipH="false" flipV="false" rot="0">
            <a:off x="3289470" y="2636584"/>
            <a:ext cx="5724271" cy="3069640"/>
          </a:xfrm>
          <a:custGeom>
            <a:avLst/>
            <a:gdLst/>
            <a:ahLst/>
            <a:cxnLst/>
            <a:rect r="r" b="b" t="t" l="l"/>
            <a:pathLst>
              <a:path h="3069640" w="5724271">
                <a:moveTo>
                  <a:pt x="0" y="0"/>
                </a:moveTo>
                <a:lnTo>
                  <a:pt x="5724271" y="0"/>
                </a:lnTo>
                <a:lnTo>
                  <a:pt x="5724271" y="3069640"/>
                </a:lnTo>
                <a:lnTo>
                  <a:pt x="0" y="3069640"/>
                </a:lnTo>
                <a:lnTo>
                  <a:pt x="0" y="0"/>
                </a:lnTo>
                <a:close/>
              </a:path>
            </a:pathLst>
          </a:custGeom>
          <a:blipFill>
            <a:blip r:embed="rId3"/>
            <a:stretch>
              <a:fillRect l="0" t="0" r="0" b="0"/>
            </a:stretch>
          </a:blipFill>
        </p:spPr>
      </p:sp>
      <p:sp>
        <p:nvSpPr>
          <p:cNvPr name="Freeform 4" id="4"/>
          <p:cNvSpPr/>
          <p:nvPr/>
        </p:nvSpPr>
        <p:spPr>
          <a:xfrm flipH="false" flipV="false" rot="0">
            <a:off x="9785506" y="5706224"/>
            <a:ext cx="6702030" cy="3552076"/>
          </a:xfrm>
          <a:custGeom>
            <a:avLst/>
            <a:gdLst/>
            <a:ahLst/>
            <a:cxnLst/>
            <a:rect r="r" b="b" t="t" l="l"/>
            <a:pathLst>
              <a:path h="3552076" w="6702030">
                <a:moveTo>
                  <a:pt x="0" y="0"/>
                </a:moveTo>
                <a:lnTo>
                  <a:pt x="6702029" y="0"/>
                </a:lnTo>
                <a:lnTo>
                  <a:pt x="6702029" y="3552076"/>
                </a:lnTo>
                <a:lnTo>
                  <a:pt x="0" y="3552076"/>
                </a:lnTo>
                <a:lnTo>
                  <a:pt x="0" y="0"/>
                </a:lnTo>
                <a:close/>
              </a:path>
            </a:pathLst>
          </a:custGeom>
          <a:blipFill>
            <a:blip r:embed="rId4"/>
            <a:stretch>
              <a:fillRect l="0" t="0" r="0" b="0"/>
            </a:stretch>
          </a:blipFill>
        </p:spPr>
      </p:sp>
      <p:sp>
        <p:nvSpPr>
          <p:cNvPr name="Freeform 5" id="5"/>
          <p:cNvSpPr/>
          <p:nvPr/>
        </p:nvSpPr>
        <p:spPr>
          <a:xfrm flipH="false" flipV="false" rot="0">
            <a:off x="10177831" y="2636584"/>
            <a:ext cx="5917379" cy="3069640"/>
          </a:xfrm>
          <a:custGeom>
            <a:avLst/>
            <a:gdLst/>
            <a:ahLst/>
            <a:cxnLst/>
            <a:rect r="r" b="b" t="t" l="l"/>
            <a:pathLst>
              <a:path h="3069640" w="5917379">
                <a:moveTo>
                  <a:pt x="0" y="0"/>
                </a:moveTo>
                <a:lnTo>
                  <a:pt x="5917379" y="0"/>
                </a:lnTo>
                <a:lnTo>
                  <a:pt x="5917379" y="3069640"/>
                </a:lnTo>
                <a:lnTo>
                  <a:pt x="0" y="3069640"/>
                </a:lnTo>
                <a:lnTo>
                  <a:pt x="0" y="0"/>
                </a:lnTo>
                <a:close/>
              </a:path>
            </a:pathLst>
          </a:custGeom>
          <a:blipFill>
            <a:blip r:embed="rId5"/>
            <a:stretch>
              <a:fillRect l="0" t="0" r="0" b="0"/>
            </a:stretch>
          </a:blipFill>
        </p:spPr>
      </p:sp>
      <p:sp>
        <p:nvSpPr>
          <p:cNvPr name="Freeform 6" id="6"/>
          <p:cNvSpPr/>
          <p:nvPr/>
        </p:nvSpPr>
        <p:spPr>
          <a:xfrm flipH="false" flipV="false" rot="0">
            <a:off x="2841092" y="5623922"/>
            <a:ext cx="6841182" cy="3634378"/>
          </a:xfrm>
          <a:custGeom>
            <a:avLst/>
            <a:gdLst/>
            <a:ahLst/>
            <a:cxnLst/>
            <a:rect r="r" b="b" t="t" l="l"/>
            <a:pathLst>
              <a:path h="3634378" w="6841182">
                <a:moveTo>
                  <a:pt x="0" y="0"/>
                </a:moveTo>
                <a:lnTo>
                  <a:pt x="6841182" y="0"/>
                </a:lnTo>
                <a:lnTo>
                  <a:pt x="6841182" y="3634378"/>
                </a:lnTo>
                <a:lnTo>
                  <a:pt x="0" y="3634378"/>
                </a:lnTo>
                <a:lnTo>
                  <a:pt x="0" y="0"/>
                </a:lnTo>
                <a:close/>
              </a:path>
            </a:pathLst>
          </a:custGeom>
          <a:blipFill>
            <a:blip r:embed="rId6"/>
            <a:stretch>
              <a:fillRect l="0" t="0" r="0" b="0"/>
            </a:stretch>
          </a:blipFill>
        </p:spPr>
      </p:sp>
      <p:sp>
        <p:nvSpPr>
          <p:cNvPr name="TextBox 7" id="7"/>
          <p:cNvSpPr txBox="true"/>
          <p:nvPr/>
        </p:nvSpPr>
        <p:spPr>
          <a:xfrm rot="0">
            <a:off x="1028700" y="933450"/>
            <a:ext cx="2548235"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Results: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820545"/>
            <a:ext cx="16230600" cy="4341685"/>
          </a:xfrm>
          <a:custGeom>
            <a:avLst/>
            <a:gdLst/>
            <a:ahLst/>
            <a:cxnLst/>
            <a:rect r="r" b="b" t="t" l="l"/>
            <a:pathLst>
              <a:path h="4341685" w="16230600">
                <a:moveTo>
                  <a:pt x="0" y="0"/>
                </a:moveTo>
                <a:lnTo>
                  <a:pt x="16230600" y="0"/>
                </a:lnTo>
                <a:lnTo>
                  <a:pt x="16230600" y="4341686"/>
                </a:lnTo>
                <a:lnTo>
                  <a:pt x="0" y="4341686"/>
                </a:lnTo>
                <a:lnTo>
                  <a:pt x="0" y="0"/>
                </a:lnTo>
                <a:close/>
              </a:path>
            </a:pathLst>
          </a:custGeom>
          <a:blipFill>
            <a:blip r:embed="rId2"/>
            <a:stretch>
              <a:fillRect l="0" t="0" r="0" b="0"/>
            </a:stretch>
          </a:blipFill>
        </p:spPr>
      </p:sp>
      <p:sp>
        <p:nvSpPr>
          <p:cNvPr name="TextBox 3" id="3"/>
          <p:cNvSpPr txBox="true"/>
          <p:nvPr/>
        </p:nvSpPr>
        <p:spPr>
          <a:xfrm rot="0">
            <a:off x="1028700" y="933450"/>
            <a:ext cx="9207847"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Temporal stability: K-MEANS</a:t>
            </a:r>
          </a:p>
        </p:txBody>
      </p:sp>
      <p:sp>
        <p:nvSpPr>
          <p:cNvPr name="TextBox 4" id="4"/>
          <p:cNvSpPr txBox="true"/>
          <p:nvPr/>
        </p:nvSpPr>
        <p:spPr>
          <a:xfrm rot="0">
            <a:off x="2930133" y="6453444"/>
            <a:ext cx="12427733" cy="2804856"/>
          </a:xfrm>
          <a:prstGeom prst="rect">
            <a:avLst/>
          </a:prstGeom>
        </p:spPr>
        <p:txBody>
          <a:bodyPr anchor="t" rtlCol="false" tIns="0" lIns="0" bIns="0" rIns="0">
            <a:spAutoFit/>
          </a:bodyPr>
          <a:lstStyle/>
          <a:p>
            <a:pPr algn="l">
              <a:lnSpc>
                <a:spcPts val="5574"/>
              </a:lnSpc>
            </a:pPr>
            <a:r>
              <a:rPr lang="en-US" sz="3981">
                <a:solidFill>
                  <a:srgbClr val="000000"/>
                </a:solidFill>
                <a:latin typeface="Canva Sans"/>
                <a:ea typeface="Canva Sans"/>
                <a:cs typeface="Canva Sans"/>
                <a:sym typeface="Canva Sans"/>
              </a:rPr>
              <a:t>Clusters not perfectly stable and interpretable over time</a:t>
            </a:r>
            <a:r>
              <a:rPr lang="en-US" sz="3981">
                <a:solidFill>
                  <a:srgbClr val="000000"/>
                </a:solidFill>
                <a:latin typeface="Canva Sans"/>
                <a:ea typeface="Canva Sans"/>
                <a:cs typeface="Canva Sans"/>
                <a:sym typeface="Canva Sans"/>
              </a:rPr>
              <a:t>. Some degree of mobility, particularly around Cluster 0, intrinsic to the structure of the data.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93371" y="2136280"/>
            <a:ext cx="11301259" cy="4393364"/>
          </a:xfrm>
          <a:custGeom>
            <a:avLst/>
            <a:gdLst/>
            <a:ahLst/>
            <a:cxnLst/>
            <a:rect r="r" b="b" t="t" l="l"/>
            <a:pathLst>
              <a:path h="4393364" w="11301259">
                <a:moveTo>
                  <a:pt x="0" y="0"/>
                </a:moveTo>
                <a:lnTo>
                  <a:pt x="11301258" y="0"/>
                </a:lnTo>
                <a:lnTo>
                  <a:pt x="11301258" y="4393364"/>
                </a:lnTo>
                <a:lnTo>
                  <a:pt x="0" y="4393364"/>
                </a:lnTo>
                <a:lnTo>
                  <a:pt x="0" y="0"/>
                </a:lnTo>
                <a:close/>
              </a:path>
            </a:pathLst>
          </a:custGeom>
          <a:blipFill>
            <a:blip r:embed="rId2"/>
            <a:stretch>
              <a:fillRect l="0" t="0" r="0" b="0"/>
            </a:stretch>
          </a:blipFill>
        </p:spPr>
      </p:sp>
      <p:sp>
        <p:nvSpPr>
          <p:cNvPr name="TextBox 3" id="3"/>
          <p:cNvSpPr txBox="true"/>
          <p:nvPr/>
        </p:nvSpPr>
        <p:spPr>
          <a:xfrm rot="0">
            <a:off x="1028700" y="933450"/>
            <a:ext cx="8389590"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Temporal stability: CLARA</a:t>
            </a:r>
          </a:p>
        </p:txBody>
      </p:sp>
      <p:sp>
        <p:nvSpPr>
          <p:cNvPr name="TextBox 4" id="4"/>
          <p:cNvSpPr txBox="true"/>
          <p:nvPr/>
        </p:nvSpPr>
        <p:spPr>
          <a:xfrm rot="0">
            <a:off x="2930133" y="6767769"/>
            <a:ext cx="12427733" cy="2097408"/>
          </a:xfrm>
          <a:prstGeom prst="rect">
            <a:avLst/>
          </a:prstGeom>
        </p:spPr>
        <p:txBody>
          <a:bodyPr anchor="t" rtlCol="false" tIns="0" lIns="0" bIns="0" rIns="0">
            <a:spAutoFit/>
          </a:bodyPr>
          <a:lstStyle/>
          <a:p>
            <a:pPr algn="l">
              <a:lnSpc>
                <a:spcPts val="5574"/>
              </a:lnSpc>
            </a:pPr>
            <a:r>
              <a:rPr lang="en-US" sz="3981">
                <a:solidFill>
                  <a:srgbClr val="000000"/>
                </a:solidFill>
                <a:latin typeface="Canva Sans"/>
                <a:ea typeface="Canva Sans"/>
                <a:cs typeface="Canva Sans"/>
                <a:sym typeface="Canva Sans"/>
              </a:rPr>
              <a:t>structurally sufficiently coherent but</a:t>
            </a:r>
            <a:r>
              <a:rPr lang="en-US" sz="3981">
                <a:solidFill>
                  <a:srgbClr val="000000"/>
                </a:solidFill>
                <a:latin typeface="Canva Sans"/>
                <a:ea typeface="Canva Sans"/>
                <a:cs typeface="Canva Sans"/>
                <a:sym typeface="Canva Sans"/>
              </a:rPr>
              <a:t> m</a:t>
            </a:r>
            <a:r>
              <a:rPr lang="en-US" sz="3981">
                <a:solidFill>
                  <a:srgbClr val="000000"/>
                </a:solidFill>
                <a:latin typeface="Canva Sans"/>
                <a:ea typeface="Canva Sans"/>
                <a:cs typeface="Canva Sans"/>
                <a:sym typeface="Canva Sans"/>
              </a:rPr>
              <a:t>o</a:t>
            </a:r>
            <a:r>
              <a:rPr lang="en-US" sz="3981">
                <a:solidFill>
                  <a:srgbClr val="000000"/>
                </a:solidFill>
                <a:latin typeface="Canva Sans"/>
                <a:ea typeface="Canva Sans"/>
                <a:cs typeface="Canva Sans"/>
                <a:sym typeface="Canva Sans"/>
              </a:rPr>
              <a:t>re </a:t>
            </a:r>
            <a:r>
              <a:rPr lang="en-US" sz="3981">
                <a:solidFill>
                  <a:srgbClr val="000000"/>
                </a:solidFill>
                <a:latin typeface="Canva Sans"/>
                <a:ea typeface="Canva Sans"/>
                <a:cs typeface="Canva Sans"/>
                <a:sym typeface="Canva Sans"/>
              </a:rPr>
              <a:t>n</a:t>
            </a:r>
            <a:r>
              <a:rPr lang="en-US" sz="3981">
                <a:solidFill>
                  <a:srgbClr val="000000"/>
                </a:solidFill>
                <a:latin typeface="Canva Sans"/>
                <a:ea typeface="Canva Sans"/>
                <a:cs typeface="Canva Sans"/>
                <a:sym typeface="Canva Sans"/>
              </a:rPr>
              <a:t>ua</a:t>
            </a:r>
            <a:r>
              <a:rPr lang="en-US" sz="3981">
                <a:solidFill>
                  <a:srgbClr val="000000"/>
                </a:solidFill>
                <a:latin typeface="Canva Sans"/>
                <a:ea typeface="Canva Sans"/>
                <a:cs typeface="Canva Sans"/>
                <a:sym typeface="Canva Sans"/>
              </a:rPr>
              <a:t>nced</a:t>
            </a:r>
            <a:r>
              <a:rPr lang="en-US" sz="3981">
                <a:solidFill>
                  <a:srgbClr val="000000"/>
                </a:solidFill>
                <a:latin typeface="Canva Sans"/>
                <a:ea typeface="Canva Sans"/>
                <a:cs typeface="Canva Sans"/>
                <a:sym typeface="Canva Sans"/>
              </a:rPr>
              <a:t> and </a:t>
            </a:r>
            <a:r>
              <a:rPr lang="en-US" sz="3981">
                <a:solidFill>
                  <a:srgbClr val="000000"/>
                </a:solidFill>
                <a:latin typeface="Canva Sans"/>
                <a:ea typeface="Canva Sans"/>
                <a:cs typeface="Canva Sans"/>
                <a:sym typeface="Canva Sans"/>
              </a:rPr>
              <a:t>mor</a:t>
            </a:r>
            <a:r>
              <a:rPr lang="en-US" sz="3981">
                <a:solidFill>
                  <a:srgbClr val="000000"/>
                </a:solidFill>
                <a:latin typeface="Canva Sans"/>
                <a:ea typeface="Canva Sans"/>
                <a:cs typeface="Canva Sans"/>
                <a:sym typeface="Canva Sans"/>
              </a:rPr>
              <a:t>e </a:t>
            </a:r>
            <a:r>
              <a:rPr lang="en-US" sz="3981">
                <a:solidFill>
                  <a:srgbClr val="000000"/>
                </a:solidFill>
                <a:latin typeface="Canva Sans"/>
                <a:ea typeface="Canva Sans"/>
                <a:cs typeface="Canva Sans"/>
                <a:sym typeface="Canva Sans"/>
              </a:rPr>
              <a:t>dy</a:t>
            </a:r>
            <a:r>
              <a:rPr lang="en-US" sz="3981">
                <a:solidFill>
                  <a:srgbClr val="000000"/>
                </a:solidFill>
                <a:latin typeface="Canva Sans"/>
                <a:ea typeface="Canva Sans"/>
                <a:cs typeface="Canva Sans"/>
                <a:sym typeface="Canva Sans"/>
              </a:rPr>
              <a:t>n</a:t>
            </a:r>
            <a:r>
              <a:rPr lang="en-US" sz="3981">
                <a:solidFill>
                  <a:srgbClr val="000000"/>
                </a:solidFill>
                <a:latin typeface="Canva Sans"/>
                <a:ea typeface="Canva Sans"/>
                <a:cs typeface="Canva Sans"/>
                <a:sym typeface="Canva Sans"/>
              </a:rPr>
              <a:t>am</a:t>
            </a:r>
            <a:r>
              <a:rPr lang="en-US" sz="3981">
                <a:solidFill>
                  <a:srgbClr val="000000"/>
                </a:solidFill>
                <a:latin typeface="Canva Sans"/>
                <a:ea typeface="Canva Sans"/>
                <a:cs typeface="Canva Sans"/>
                <a:sym typeface="Canva Sans"/>
              </a:rPr>
              <a:t>ic t</a:t>
            </a:r>
            <a:r>
              <a:rPr lang="en-US" sz="3981">
                <a:solidFill>
                  <a:srgbClr val="000000"/>
                </a:solidFill>
                <a:latin typeface="Canva Sans"/>
                <a:ea typeface="Canva Sans"/>
                <a:cs typeface="Canva Sans"/>
                <a:sym typeface="Canva Sans"/>
              </a:rPr>
              <a:t>han</a:t>
            </a:r>
            <a:r>
              <a:rPr lang="en-US" sz="3981">
                <a:solidFill>
                  <a:srgbClr val="000000"/>
                </a:solidFill>
                <a:latin typeface="Canva Sans"/>
                <a:ea typeface="Canva Sans"/>
                <a:cs typeface="Canva Sans"/>
                <a:sym typeface="Canva Sans"/>
              </a:rPr>
              <a:t> the </a:t>
            </a:r>
            <a:r>
              <a:rPr lang="en-US" sz="3981">
                <a:solidFill>
                  <a:srgbClr val="000000"/>
                </a:solidFill>
                <a:latin typeface="Canva Sans"/>
                <a:ea typeface="Canva Sans"/>
                <a:cs typeface="Canva Sans"/>
                <a:sym typeface="Canva Sans"/>
              </a:rPr>
              <a:t>K-M</a:t>
            </a:r>
            <a:r>
              <a:rPr lang="en-US" sz="3981">
                <a:solidFill>
                  <a:srgbClr val="000000"/>
                </a:solidFill>
                <a:latin typeface="Canva Sans"/>
                <a:ea typeface="Canva Sans"/>
                <a:cs typeface="Canva Sans"/>
                <a:sym typeface="Canva Sans"/>
              </a:rPr>
              <a:t>e</a:t>
            </a:r>
            <a:r>
              <a:rPr lang="en-US" sz="3981">
                <a:solidFill>
                  <a:srgbClr val="000000"/>
                </a:solidFill>
                <a:latin typeface="Canva Sans"/>
                <a:ea typeface="Canva Sans"/>
                <a:cs typeface="Canva Sans"/>
                <a:sym typeface="Canva Sans"/>
              </a:rPr>
              <a:t>ans</a:t>
            </a:r>
            <a:r>
              <a:rPr lang="en-US" sz="3981">
                <a:solidFill>
                  <a:srgbClr val="000000"/>
                </a:solidFill>
                <a:latin typeface="Canva Sans"/>
                <a:ea typeface="Canva Sans"/>
                <a:cs typeface="Canva Sans"/>
                <a:sym typeface="Canva Sans"/>
              </a:rPr>
              <a:t> </a:t>
            </a:r>
            <a:r>
              <a:rPr lang="en-US" sz="3981">
                <a:solidFill>
                  <a:srgbClr val="000000"/>
                </a:solidFill>
                <a:latin typeface="Canva Sans"/>
                <a:ea typeface="Canva Sans"/>
                <a:cs typeface="Canva Sans"/>
                <a:sym typeface="Canva Sans"/>
              </a:rPr>
              <a:t>al</a:t>
            </a:r>
            <a:r>
              <a:rPr lang="en-US" sz="3981">
                <a:solidFill>
                  <a:srgbClr val="000000"/>
                </a:solidFill>
                <a:latin typeface="Canva Sans"/>
                <a:ea typeface="Canva Sans"/>
                <a:cs typeface="Canva Sans"/>
                <a:sym typeface="Canva Sans"/>
              </a:rPr>
              <a:t>te</a:t>
            </a:r>
            <a:r>
              <a:rPr lang="en-US" sz="3981">
                <a:solidFill>
                  <a:srgbClr val="000000"/>
                </a:solidFill>
                <a:latin typeface="Canva Sans"/>
                <a:ea typeface="Canva Sans"/>
                <a:cs typeface="Canva Sans"/>
                <a:sym typeface="Canva Sans"/>
              </a:rPr>
              <a:t>rn</a:t>
            </a:r>
            <a:r>
              <a:rPr lang="en-US" sz="3981">
                <a:solidFill>
                  <a:srgbClr val="000000"/>
                </a:solidFill>
                <a:latin typeface="Canva Sans"/>
                <a:ea typeface="Canva Sans"/>
                <a:cs typeface="Canva Sans"/>
                <a:sym typeface="Canva Sans"/>
              </a:rPr>
              <a:t>at</a:t>
            </a:r>
            <a:r>
              <a:rPr lang="en-US" sz="3981">
                <a:solidFill>
                  <a:srgbClr val="000000"/>
                </a:solidFill>
                <a:latin typeface="Canva Sans"/>
                <a:ea typeface="Canva Sans"/>
                <a:cs typeface="Canva Sans"/>
                <a:sym typeface="Canva Sans"/>
              </a:rPr>
              <a:t>ive</a:t>
            </a:r>
            <a:r>
              <a:rPr lang="en-US" sz="3981">
                <a:solidFill>
                  <a:srgbClr val="000000"/>
                </a:solidFill>
                <a:latin typeface="Canva Sans"/>
                <a:ea typeface="Canva Sans"/>
                <a:cs typeface="Canva Sans"/>
                <a:sym typeface="Canva Sans"/>
              </a:rPr>
              <a: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93371" y="2628970"/>
            <a:ext cx="11301259" cy="2514530"/>
          </a:xfrm>
          <a:custGeom>
            <a:avLst/>
            <a:gdLst/>
            <a:ahLst/>
            <a:cxnLst/>
            <a:rect r="r" b="b" t="t" l="l"/>
            <a:pathLst>
              <a:path h="2514530" w="11301259">
                <a:moveTo>
                  <a:pt x="0" y="0"/>
                </a:moveTo>
                <a:lnTo>
                  <a:pt x="11301258" y="0"/>
                </a:lnTo>
                <a:lnTo>
                  <a:pt x="11301258" y="2514530"/>
                </a:lnTo>
                <a:lnTo>
                  <a:pt x="0" y="2514530"/>
                </a:lnTo>
                <a:lnTo>
                  <a:pt x="0" y="0"/>
                </a:lnTo>
                <a:close/>
              </a:path>
            </a:pathLst>
          </a:custGeom>
          <a:blipFill>
            <a:blip r:embed="rId2"/>
            <a:stretch>
              <a:fillRect l="0" t="0" r="0" b="0"/>
            </a:stretch>
          </a:blipFill>
        </p:spPr>
      </p:sp>
      <p:sp>
        <p:nvSpPr>
          <p:cNvPr name="Freeform 3" id="3"/>
          <p:cNvSpPr/>
          <p:nvPr/>
        </p:nvSpPr>
        <p:spPr>
          <a:xfrm flipH="false" flipV="false" rot="0">
            <a:off x="3493371" y="6648229"/>
            <a:ext cx="11301259" cy="1963594"/>
          </a:xfrm>
          <a:custGeom>
            <a:avLst/>
            <a:gdLst/>
            <a:ahLst/>
            <a:cxnLst/>
            <a:rect r="r" b="b" t="t" l="l"/>
            <a:pathLst>
              <a:path h="1963594" w="11301259">
                <a:moveTo>
                  <a:pt x="0" y="0"/>
                </a:moveTo>
                <a:lnTo>
                  <a:pt x="11301258" y="0"/>
                </a:lnTo>
                <a:lnTo>
                  <a:pt x="11301258" y="1963594"/>
                </a:lnTo>
                <a:lnTo>
                  <a:pt x="0" y="1963594"/>
                </a:lnTo>
                <a:lnTo>
                  <a:pt x="0" y="0"/>
                </a:lnTo>
                <a:close/>
              </a:path>
            </a:pathLst>
          </a:custGeom>
          <a:blipFill>
            <a:blip r:embed="rId3"/>
            <a:stretch>
              <a:fillRect l="0" t="0" r="0" b="0"/>
            </a:stretch>
          </a:blipFill>
        </p:spPr>
      </p:sp>
      <p:sp>
        <p:nvSpPr>
          <p:cNvPr name="TextBox 4" id="4"/>
          <p:cNvSpPr txBox="true"/>
          <p:nvPr/>
        </p:nvSpPr>
        <p:spPr>
          <a:xfrm rot="0">
            <a:off x="1028700" y="933450"/>
            <a:ext cx="15500598"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Temporal stability: DBSCAN and HIERARCHICAL</a:t>
            </a:r>
          </a:p>
        </p:txBody>
      </p:sp>
      <p:sp>
        <p:nvSpPr>
          <p:cNvPr name="Freeform 5" id="5"/>
          <p:cNvSpPr/>
          <p:nvPr/>
        </p:nvSpPr>
        <p:spPr>
          <a:xfrm flipH="false" flipV="false" rot="0">
            <a:off x="10358590" y="6491399"/>
            <a:ext cx="1796312" cy="722573"/>
          </a:xfrm>
          <a:custGeom>
            <a:avLst/>
            <a:gdLst/>
            <a:ahLst/>
            <a:cxnLst/>
            <a:rect r="r" b="b" t="t" l="l"/>
            <a:pathLst>
              <a:path h="722573" w="1796312">
                <a:moveTo>
                  <a:pt x="0" y="0"/>
                </a:moveTo>
                <a:lnTo>
                  <a:pt x="1796312" y="0"/>
                </a:lnTo>
                <a:lnTo>
                  <a:pt x="1796312" y="722573"/>
                </a:lnTo>
                <a:lnTo>
                  <a:pt x="0" y="722573"/>
                </a:lnTo>
                <a:lnTo>
                  <a:pt x="0" y="0"/>
                </a:lnTo>
                <a:close/>
              </a:path>
            </a:pathLst>
          </a:custGeom>
          <a:blipFill>
            <a:blip r:embed="rId3"/>
            <a:stretch>
              <a:fillRect l="-529136" t="-171750" r="0" b="0"/>
            </a:stretch>
          </a:blipFill>
        </p:spPr>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33450"/>
            <a:ext cx="4110782" cy="887095"/>
          </a:xfrm>
          <a:prstGeom prst="rect">
            <a:avLst/>
          </a:prstGeom>
        </p:spPr>
        <p:txBody>
          <a:bodyPr anchor="t" rtlCol="false" tIns="0" lIns="0" bIns="0" rIns="0">
            <a:spAutoFit/>
          </a:bodyPr>
          <a:lstStyle/>
          <a:p>
            <a:pPr algn="l">
              <a:lnSpc>
                <a:spcPts val="7279"/>
              </a:lnSpc>
            </a:pPr>
            <a:r>
              <a:rPr lang="en-US" sz="5199" b="true">
                <a:solidFill>
                  <a:srgbClr val="000000"/>
                </a:solidFill>
                <a:latin typeface="Canva Sans Bold"/>
                <a:ea typeface="Canva Sans Bold"/>
                <a:cs typeface="Canva Sans Bold"/>
                <a:sym typeface="Canva Sans Bold"/>
              </a:rPr>
              <a:t>Final results:</a:t>
            </a:r>
          </a:p>
        </p:txBody>
      </p:sp>
      <p:sp>
        <p:nvSpPr>
          <p:cNvPr name="TextBox 3" id="3"/>
          <p:cNvSpPr txBox="true"/>
          <p:nvPr/>
        </p:nvSpPr>
        <p:spPr>
          <a:xfrm rot="0">
            <a:off x="1590095" y="1753870"/>
            <a:ext cx="15199519" cy="6562446"/>
          </a:xfrm>
          <a:prstGeom prst="rect">
            <a:avLst/>
          </a:prstGeom>
        </p:spPr>
        <p:txBody>
          <a:bodyPr anchor="t" rtlCol="false" tIns="0" lIns="0" bIns="0" rIns="0">
            <a:spAutoFit/>
          </a:bodyPr>
          <a:lstStyle/>
          <a:p>
            <a:pPr algn="l" marL="892955" indent="-446477" lvl="1">
              <a:lnSpc>
                <a:spcPts val="5790"/>
              </a:lnSpc>
              <a:buFont typeface="Arial"/>
              <a:buChar char="•"/>
            </a:pPr>
            <a:r>
              <a:rPr lang="en-US" b="true" sz="4135">
                <a:solidFill>
                  <a:srgbClr val="000000"/>
                </a:solidFill>
                <a:latin typeface="Canva Sans Bold"/>
                <a:ea typeface="Canva Sans Bold"/>
                <a:cs typeface="Canva Sans Bold"/>
                <a:sym typeface="Canva Sans Bold"/>
              </a:rPr>
              <a:t>K-Means: </a:t>
            </a:r>
            <a:r>
              <a:rPr lang="en-US" sz="4135">
                <a:solidFill>
                  <a:srgbClr val="000000"/>
                </a:solidFill>
                <a:latin typeface="Canva Sans"/>
                <a:ea typeface="Canva Sans"/>
                <a:cs typeface="Canva Sans"/>
                <a:sym typeface="Canva Sans"/>
              </a:rPr>
              <a:t>best balance between interpretability and temporal stability.</a:t>
            </a:r>
          </a:p>
          <a:p>
            <a:pPr algn="l" marL="892955" indent="-446477" lvl="1">
              <a:lnSpc>
                <a:spcPts val="5790"/>
              </a:lnSpc>
              <a:buFont typeface="Arial"/>
              <a:buChar char="•"/>
            </a:pPr>
            <a:r>
              <a:rPr lang="en-US" b="true" sz="4135">
                <a:solidFill>
                  <a:srgbClr val="000000"/>
                </a:solidFill>
                <a:latin typeface="Canva Sans Bold"/>
                <a:ea typeface="Canva Sans Bold"/>
                <a:cs typeface="Canva Sans Bold"/>
                <a:sym typeface="Canva Sans Bold"/>
              </a:rPr>
              <a:t>CLARA:</a:t>
            </a:r>
            <a:r>
              <a:rPr lang="en-US" sz="4135">
                <a:solidFill>
                  <a:srgbClr val="000000"/>
                </a:solidFill>
                <a:latin typeface="Canva Sans"/>
                <a:ea typeface="Canva Sans"/>
                <a:cs typeface="Canva Sans"/>
                <a:sym typeface="Canva Sans"/>
              </a:rPr>
              <a:t> finer distinctions, with volatility.</a:t>
            </a:r>
          </a:p>
          <a:p>
            <a:pPr algn="l" marL="892955" indent="-446477" lvl="1">
              <a:lnSpc>
                <a:spcPts val="5790"/>
              </a:lnSpc>
              <a:buFont typeface="Arial"/>
              <a:buChar char="•"/>
            </a:pPr>
            <a:r>
              <a:rPr lang="en-US" b="true" sz="4135">
                <a:solidFill>
                  <a:srgbClr val="000000"/>
                </a:solidFill>
                <a:latin typeface="Canva Sans Bold"/>
                <a:ea typeface="Canva Sans Bold"/>
                <a:cs typeface="Canva Sans Bold"/>
                <a:sym typeface="Canva Sans Bold"/>
              </a:rPr>
              <a:t>DBSCAN:</a:t>
            </a:r>
            <a:r>
              <a:rPr lang="en-US" sz="4135">
                <a:solidFill>
                  <a:srgbClr val="000000"/>
                </a:solidFill>
                <a:latin typeface="Canva Sans"/>
                <a:ea typeface="Canva Sans"/>
                <a:cs typeface="Canva Sans"/>
                <a:sym typeface="Canva Sans"/>
              </a:rPr>
              <a:t> robust two-cluster structure, successfully detected anomalies (e.g., post-2008 crisis).</a:t>
            </a:r>
          </a:p>
          <a:p>
            <a:pPr algn="l" marL="892955" indent="-446477" lvl="1">
              <a:lnSpc>
                <a:spcPts val="5790"/>
              </a:lnSpc>
              <a:buFont typeface="Arial"/>
              <a:buChar char="•"/>
            </a:pPr>
            <a:r>
              <a:rPr lang="en-US" b="true" sz="4135">
                <a:solidFill>
                  <a:srgbClr val="000000"/>
                </a:solidFill>
                <a:latin typeface="Canva Sans Bold"/>
                <a:ea typeface="Canva Sans Bold"/>
                <a:cs typeface="Canva Sans Bold"/>
                <a:sym typeface="Canva Sans Bold"/>
              </a:rPr>
              <a:t>Hierarchical clustering:</a:t>
            </a:r>
            <a:r>
              <a:rPr lang="en-US" sz="4135">
                <a:solidFill>
                  <a:srgbClr val="000000"/>
                </a:solidFill>
                <a:latin typeface="Canva Sans"/>
                <a:ea typeface="Canva Sans"/>
                <a:cs typeface="Canva Sans"/>
                <a:sym typeface="Canva Sans"/>
              </a:rPr>
              <a:t> highlight rich–poor divide, showed sensitivity to yearly normalization.</a:t>
            </a:r>
          </a:p>
          <a:p>
            <a:pPr algn="l" marL="892955" indent="-446477" lvl="1">
              <a:lnSpc>
                <a:spcPts val="5790"/>
              </a:lnSpc>
              <a:buFont typeface="Arial"/>
              <a:buChar char="•"/>
            </a:pPr>
            <a:r>
              <a:rPr lang="en-US" b="true" sz="4135">
                <a:solidFill>
                  <a:srgbClr val="000000"/>
                </a:solidFill>
                <a:latin typeface="Canva Sans Bold"/>
                <a:ea typeface="Canva Sans Bold"/>
                <a:cs typeface="Canva Sans Bold"/>
                <a:sym typeface="Canva Sans Bold"/>
              </a:rPr>
              <a:t>No definitive “perfect” clustering emerged: the curse of dimensionality persists.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DAHB5aJkLrc</dc:identifier>
  <dcterms:modified xsi:type="dcterms:W3CDTF">2011-08-01T06:04:30Z</dcterms:modified>
  <cp:revision>1</cp:revision>
  <dc:title>ccised</dc:title>
</cp:coreProperties>
</file>